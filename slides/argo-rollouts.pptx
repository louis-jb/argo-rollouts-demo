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F7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68680" y="2377440"/>
            <a:ext cx="384048" cy="457200"/>
          </a:xfrm>
          <a:prstGeom prst="roundRect">
            <a:avLst>
              <a:gd name="adj" fmla="val 25000"/>
            </a:avLst>
          </a:prstGeom>
          <a:solidFill>
            <a:srgbClr val="323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2103120"/>
            <a:ext cx="384048" cy="731520"/>
          </a:xfrm>
          <a:prstGeom prst="roundRect">
            <a:avLst>
              <a:gd name="adj" fmla="val 25000"/>
            </a:avLst>
          </a:prstGeom>
          <a:solidFill>
            <a:srgbClr val="EF7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874519" y="1828800"/>
            <a:ext cx="384048" cy="1005840"/>
          </a:xfrm>
          <a:prstGeom prst="roundRect">
            <a:avLst>
              <a:gd name="adj" fmla="val 25000"/>
            </a:avLst>
          </a:prstGeom>
          <a:solidFill>
            <a:srgbClr val="3FC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06324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400" b="1">
                <a:solidFill>
                  <a:srgbClr val="FFFFFF"/>
                </a:solidFill>
                <a:latin typeface="Calibri"/>
              </a:rPr>
              <a:t>Argo Rollouts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069080"/>
            <a:ext cx="3291840" cy="54864"/>
          </a:xfrm>
          <a:prstGeom prst="rect">
            <a:avLst/>
          </a:prstGeom>
          <a:solidFill>
            <a:srgbClr val="EF7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25196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0">
                <a:solidFill>
                  <a:srgbClr val="979FB0"/>
                </a:solidFill>
                <a:latin typeface="Calibri"/>
              </a:rPr>
              <a:t>Déploiement progressif &amp; rollback automatique sur Kubernetes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9436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979FB0"/>
                </a:solidFill>
                <a:latin typeface="Calibri"/>
              </a:rPr>
              <a:t>Projet de recherche — Écosystème Kubernetes &amp; GitOps</a:t>
            </a:r>
            <a:r>
              <a:rPr sz="1300" b="0">
                <a:solidFill>
                  <a:srgbClr val="323C4F"/>
                </a:solidFill>
                <a:latin typeface="Calibri"/>
              </a:rPr>
              <a:t>      •      </a:t>
            </a:r>
            <a:r>
              <a:rPr sz="1300" b="1">
                <a:solidFill>
                  <a:srgbClr val="EF7627"/>
                </a:solidFill>
                <a:latin typeface="Calibri"/>
              </a:rPr>
              <a:t>Louis —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146304" cy="457200"/>
          </a:xfrm>
          <a:prstGeom prst="rect">
            <a:avLst/>
          </a:prstGeom>
          <a:solidFill>
            <a:srgbClr val="EF7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070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Plan de la présentation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25880"/>
            <a:ext cx="11183112" cy="20116"/>
          </a:xfrm>
          <a:prstGeom prst="rect">
            <a:avLst/>
          </a:prstGeom>
          <a:solidFill>
            <a:srgbClr val="323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79FB0"/>
                </a:solidFill>
                <a:latin typeface="Calibri"/>
              </a:rPr>
              <a:t>Argo Rollouts — Projet de recherche Kubernetes &amp; GitOps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55664"/>
            <a:ext cx="16276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EF7627"/>
                </a:solidFill>
                <a:latin typeface="Calibri"/>
              </a:rP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91640"/>
            <a:ext cx="10607040" cy="932688"/>
          </a:xfrm>
          <a:prstGeom prst="roundRect">
            <a:avLst>
              <a:gd name="adj" fmla="val 10000"/>
            </a:avLst>
          </a:prstGeom>
          <a:solidFill>
            <a:srgbClr val="1E2533"/>
          </a:solidFill>
          <a:ln w="12700">
            <a:solidFill>
              <a:srgbClr val="323C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" y="1883664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41823"/>
          </a:solidFill>
          <a:ln w="19050">
            <a:solidFill>
              <a:srgbClr val="EF76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8366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EF7627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1819656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La technologie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194560"/>
            <a:ext cx="9418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979FB0"/>
                </a:solidFill>
                <a:latin typeface="Calibri"/>
              </a:rPr>
              <a:t>Le problème, la définition, le fonctionnement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788920"/>
            <a:ext cx="10607040" cy="932688"/>
          </a:xfrm>
          <a:prstGeom prst="roundRect">
            <a:avLst>
              <a:gd name="adj" fmla="val 10000"/>
            </a:avLst>
          </a:prstGeom>
          <a:solidFill>
            <a:srgbClr val="1E2533"/>
          </a:solidFill>
          <a:ln w="12700">
            <a:solidFill>
              <a:srgbClr val="323C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0120" y="2980944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41823"/>
          </a:solidFill>
          <a:ln w="19050">
            <a:solidFill>
              <a:srgbClr val="EF76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98094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EF7627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2916936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Cas d'usage professionnel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3291839"/>
            <a:ext cx="9418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979FB0"/>
                </a:solidFill>
                <a:latin typeface="Calibri"/>
              </a:rPr>
              <a:t>Où, comment, avantages &amp; limites, écosystème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886200"/>
            <a:ext cx="10607040" cy="932688"/>
          </a:xfrm>
          <a:prstGeom prst="roundRect">
            <a:avLst>
              <a:gd name="adj" fmla="val 10000"/>
            </a:avLst>
          </a:prstGeom>
          <a:solidFill>
            <a:srgbClr val="1E2533"/>
          </a:solidFill>
          <a:ln w="12700">
            <a:solidFill>
              <a:srgbClr val="323C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0120" y="4078224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41823"/>
          </a:solidFill>
          <a:ln w="19050">
            <a:solidFill>
              <a:srgbClr val="EF76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07822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EF7627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4014215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Mise en œuvre technique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4389120"/>
            <a:ext cx="9418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979FB0"/>
                </a:solidFill>
                <a:latin typeface="Calibri"/>
              </a:rPr>
              <a:t>Architecture, choix, démonstration live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983479"/>
            <a:ext cx="10607040" cy="932688"/>
          </a:xfrm>
          <a:prstGeom prst="roundRect">
            <a:avLst>
              <a:gd name="adj" fmla="val 10000"/>
            </a:avLst>
          </a:prstGeom>
          <a:solidFill>
            <a:srgbClr val="1E2533"/>
          </a:solidFill>
          <a:ln w="12700">
            <a:solidFill>
              <a:srgbClr val="323C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60120" y="5175503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41823"/>
          </a:solidFill>
          <a:ln w="19050">
            <a:solidFill>
              <a:srgbClr val="EF76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175503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EF7627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5111495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Retour d'expérience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83080" y="5486399"/>
            <a:ext cx="9418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979FB0"/>
                </a:solidFill>
                <a:latin typeface="Calibri"/>
              </a:rPr>
              <a:t>Bilan, avis personnel, améliorations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146304" cy="457200"/>
          </a:xfrm>
          <a:prstGeom prst="rect">
            <a:avLst/>
          </a:prstGeom>
          <a:solidFill>
            <a:srgbClr val="EF7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070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F7627"/>
                </a:solidFill>
                <a:latin typeface="Calibri"/>
              </a:rPr>
              <a:t>POURQUOI ALLER PLUS LOIN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Le problème : le Deployment classique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25880"/>
            <a:ext cx="11183112" cy="20116"/>
          </a:xfrm>
          <a:prstGeom prst="rect">
            <a:avLst/>
          </a:prstGeom>
          <a:solidFill>
            <a:srgbClr val="323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79FB0"/>
                </a:solidFill>
                <a:latin typeface="Calibri"/>
              </a:rPr>
              <a:t>Argo Rollouts — Projet de recherche Kubernetes &amp; GitOps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55664"/>
            <a:ext cx="16276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EF7627"/>
                </a:solidFill>
                <a:latin typeface="Calibr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E8EAED"/>
                </a:solidFill>
                <a:latin typeface="Calibri"/>
              </a:rPr>
              <a:t>Un </a:t>
            </a:r>
            <a:r>
              <a:rPr sz="1800" b="1">
                <a:solidFill>
                  <a:srgbClr val="EF7627"/>
                </a:solidFill>
                <a:latin typeface="Calibri"/>
              </a:rPr>
              <a:t>Deployment</a:t>
            </a:r>
            <a:r>
              <a:rPr sz="1800" b="0">
                <a:solidFill>
                  <a:srgbClr val="E8EAED"/>
                </a:solidFill>
                <a:latin typeface="Calibri"/>
              </a:rPr>
              <a:t> fait un </a:t>
            </a:r>
            <a:r>
              <a:rPr sz="1800" b="1">
                <a:solidFill>
                  <a:srgbClr val="FFFFFF"/>
                </a:solidFill>
                <a:latin typeface="Calibri"/>
              </a:rPr>
              <a:t>rolling update</a:t>
            </a:r>
            <a:r>
              <a:rPr sz="1800" b="0">
                <a:solidFill>
                  <a:srgbClr val="E8EAED"/>
                </a:solidFill>
                <a:latin typeface="Calibri"/>
              </a:rPr>
              <a:t> : il remplace les pods un à un… sans jamais vérifier si la nouvelle version fonctionne.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423160"/>
            <a:ext cx="5257800" cy="3383280"/>
          </a:xfrm>
          <a:prstGeom prst="roundRect">
            <a:avLst>
              <a:gd name="adj" fmla="val 6000"/>
            </a:avLst>
          </a:prstGeom>
          <a:solidFill>
            <a:srgbClr val="1E2533"/>
          </a:solidFill>
          <a:ln w="12700">
            <a:solidFill>
              <a:srgbClr val="323C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587752"/>
            <a:ext cx="91440" cy="384048"/>
          </a:xfrm>
          <a:prstGeom prst="rect">
            <a:avLst/>
          </a:prstGeom>
          <a:solidFill>
            <a:srgbClr val="F06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606040"/>
            <a:ext cx="4800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Les risques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136391"/>
            <a:ext cx="475488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0645A"/>
                </a:solidFill>
                <a:latin typeface="Calibri"/>
              </a:rPr>
              <a:t>✕  </a:t>
            </a:r>
            <a:r>
              <a:rPr sz="1500" b="1">
                <a:solidFill>
                  <a:srgbClr val="F0645A"/>
                </a:solidFill>
                <a:latin typeface="Calibri"/>
              </a:rPr>
              <a:t>Une v2 buggée part vers 100 % des utilisateurs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0645A"/>
                </a:solidFill>
                <a:latin typeface="Calibri"/>
              </a:rPr>
              <a:t>✕  </a:t>
            </a:r>
            <a:r>
              <a:rPr sz="1500" b="1">
                <a:solidFill>
                  <a:srgbClr val="F0645A"/>
                </a:solidFill>
                <a:latin typeface="Calibri"/>
              </a:rPr>
              <a:t>Détection tardive : alertes, support, churn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0645A"/>
                </a:solidFill>
                <a:latin typeface="Calibri"/>
              </a:rPr>
              <a:t>✕  </a:t>
            </a:r>
            <a:r>
              <a:rPr sz="1500" b="1">
                <a:solidFill>
                  <a:srgbClr val="F0645A"/>
                </a:solidFill>
                <a:latin typeface="Calibri"/>
              </a:rPr>
              <a:t>Rollback manuel, sous stress, en plein incident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0645A"/>
                </a:solidFill>
                <a:latin typeface="Calibri"/>
              </a:rPr>
              <a:t>✕  </a:t>
            </a:r>
            <a:r>
              <a:rPr sz="1500" b="1">
                <a:solidFill>
                  <a:srgbClr val="F0645A"/>
                </a:solidFill>
                <a:latin typeface="Calibri"/>
              </a:rPr>
              <a:t>Aucune mesure objective avant de généraliser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423160"/>
            <a:ext cx="5120640" cy="3383280"/>
          </a:xfrm>
          <a:prstGeom prst="roundRect">
            <a:avLst>
              <a:gd name="adj" fmla="val 6000"/>
            </a:avLst>
          </a:prstGeom>
          <a:solidFill>
            <a:srgbClr val="1E2533"/>
          </a:solidFill>
          <a:ln w="12700">
            <a:solidFill>
              <a:srgbClr val="323C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2587752"/>
            <a:ext cx="91440" cy="384048"/>
          </a:xfrm>
          <a:prstGeom prst="rect">
            <a:avLst/>
          </a:prstGeom>
          <a:solidFill>
            <a:srgbClr val="3FC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59" y="2606040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Le besoin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3136391"/>
            <a:ext cx="461772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F7627"/>
                </a:solidFill>
                <a:latin typeface="Calibri"/>
              </a:rPr>
              <a:t>▸  </a:t>
            </a:r>
            <a:r>
              <a:rPr sz="1500" b="0">
                <a:solidFill>
                  <a:srgbClr val="E8EAED"/>
                </a:solidFill>
                <a:latin typeface="Calibri"/>
              </a:rPr>
              <a:t>Exposer la v2 à une fraction du trafic d'abord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F7627"/>
                </a:solidFill>
                <a:latin typeface="Calibri"/>
              </a:rPr>
              <a:t>▸  </a:t>
            </a:r>
            <a:r>
              <a:rPr sz="1500" b="0">
                <a:solidFill>
                  <a:srgbClr val="E8EAED"/>
                </a:solidFill>
                <a:latin typeface="Calibri"/>
              </a:rPr>
              <a:t>Mesurer sa santé en conditions réelles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F7627"/>
                </a:solidFill>
                <a:latin typeface="Calibri"/>
              </a:rPr>
              <a:t>▸  </a:t>
            </a:r>
            <a:r>
              <a:rPr sz="1500" b="0">
                <a:solidFill>
                  <a:srgbClr val="E8EAED"/>
                </a:solidFill>
                <a:latin typeface="Calibri"/>
              </a:rPr>
              <a:t>Promouvoir seulement si les métriques sont bonnes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F7627"/>
                </a:solidFill>
                <a:latin typeface="Calibri"/>
              </a:rPr>
              <a:t>▸  </a:t>
            </a:r>
            <a:r>
              <a:rPr sz="1500" b="0">
                <a:solidFill>
                  <a:srgbClr val="E8EAED"/>
                </a:solidFill>
                <a:latin typeface="Calibri"/>
              </a:rPr>
              <a:t>Revenir en arrière automatiquement sinon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146304" cy="457200"/>
          </a:xfrm>
          <a:prstGeom prst="rect">
            <a:avLst/>
          </a:prstGeom>
          <a:solidFill>
            <a:srgbClr val="EF7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070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F7627"/>
                </a:solidFill>
                <a:latin typeface="Calibri"/>
              </a:rPr>
              <a:t>DÉFINITION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Qu'est-ce qu'Argo Rollouts ?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25880"/>
            <a:ext cx="11183112" cy="20116"/>
          </a:xfrm>
          <a:prstGeom prst="rect">
            <a:avLst/>
          </a:prstGeom>
          <a:solidFill>
            <a:srgbClr val="323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79FB0"/>
                </a:solidFill>
                <a:latin typeface="Calibri"/>
              </a:rPr>
              <a:t>Argo Rollouts — Projet de recherche Kubernetes &amp; GitOps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55664"/>
            <a:ext cx="16276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EF7627"/>
                </a:solidFill>
                <a:latin typeface="Calibr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E8EAED"/>
                </a:solidFill>
                <a:latin typeface="Calibri"/>
              </a:rPr>
              <a:t>Un </a:t>
            </a:r>
            <a:r>
              <a:rPr sz="1800" b="1">
                <a:solidFill>
                  <a:srgbClr val="FFFFFF"/>
                </a:solidFill>
                <a:latin typeface="Calibri"/>
              </a:rPr>
              <a:t>contrôleur Kubernetes</a:t>
            </a:r>
            <a:r>
              <a:rPr sz="1800" b="0">
                <a:solidFill>
                  <a:srgbClr val="E8EAED"/>
                </a:solidFill>
                <a:latin typeface="Calibri"/>
              </a:rPr>
              <a:t> (projet CNCF, famille Argo) qui remplace le Deployment par une ressource </a:t>
            </a:r>
            <a:r>
              <a:rPr sz="1800" b="1">
                <a:solidFill>
                  <a:srgbClr val="EF7627"/>
                </a:solidFill>
                <a:latin typeface="Calibri"/>
              </a:rPr>
              <a:t>Rollout</a:t>
            </a:r>
            <a:r>
              <a:rPr sz="1800" b="0">
                <a:solidFill>
                  <a:srgbClr val="E8EAED"/>
                </a:solidFill>
                <a:latin typeface="Calibri"/>
              </a:rPr>
              <a:t> offrant la progressive delivery.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468880"/>
            <a:ext cx="3429000" cy="3200400"/>
          </a:xfrm>
          <a:prstGeom prst="roundRect">
            <a:avLst>
              <a:gd name="adj" fmla="val 6000"/>
            </a:avLst>
          </a:prstGeom>
          <a:solidFill>
            <a:srgbClr val="1E2533"/>
          </a:solidFill>
          <a:ln w="12700">
            <a:solidFill>
              <a:srgbClr val="323C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633472"/>
            <a:ext cx="91440" cy="384048"/>
          </a:xfrm>
          <a:prstGeom prst="rect">
            <a:avLst/>
          </a:prstGeom>
          <a:solidFill>
            <a:srgbClr val="EF7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651760"/>
            <a:ext cx="2971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Canary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182112"/>
            <a:ext cx="29260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F7627"/>
                </a:solidFill>
                <a:latin typeface="Calibri"/>
              </a:rPr>
              <a:t>▸  </a:t>
            </a:r>
            <a:r>
              <a:rPr sz="1500" b="0">
                <a:solidFill>
                  <a:srgbClr val="E8EAED"/>
                </a:solidFill>
                <a:latin typeface="Calibri"/>
              </a:rPr>
              <a:t>% croissant du trafic vers la v2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979FB0"/>
                </a:solidFill>
                <a:latin typeface="Calibri"/>
              </a:rPr>
              <a:t>▸  </a:t>
            </a:r>
            <a:r>
              <a:rPr sz="1500" b="0">
                <a:solidFill>
                  <a:srgbClr val="979FB0"/>
                </a:solidFill>
                <a:latin typeface="Calibri"/>
              </a:rPr>
              <a:t>20% → 40% → 60% → 100%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2468880"/>
            <a:ext cx="3429000" cy="3200400"/>
          </a:xfrm>
          <a:prstGeom prst="roundRect">
            <a:avLst>
              <a:gd name="adj" fmla="val 6000"/>
            </a:avLst>
          </a:prstGeom>
          <a:solidFill>
            <a:srgbClr val="1E2533"/>
          </a:solidFill>
          <a:ln w="12700">
            <a:solidFill>
              <a:srgbClr val="323C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2633472"/>
            <a:ext cx="91440" cy="384048"/>
          </a:xfrm>
          <a:prstGeom prst="rect">
            <a:avLst/>
          </a:prstGeom>
          <a:solidFill>
            <a:srgbClr val="55A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2651760"/>
            <a:ext cx="2971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Blue-Green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3182112"/>
            <a:ext cx="29260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F7627"/>
                </a:solidFill>
                <a:latin typeface="Calibri"/>
              </a:rPr>
              <a:t>▸  </a:t>
            </a:r>
            <a:r>
              <a:rPr sz="1500" b="0">
                <a:solidFill>
                  <a:srgbClr val="E8EAED"/>
                </a:solidFill>
                <a:latin typeface="Calibri"/>
              </a:rPr>
              <a:t>Deux environnements isolés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979FB0"/>
                </a:solidFill>
                <a:latin typeface="Calibri"/>
              </a:rPr>
              <a:t>▸  </a:t>
            </a:r>
            <a:r>
              <a:rPr sz="1500" b="0">
                <a:solidFill>
                  <a:srgbClr val="979FB0"/>
                </a:solidFill>
                <a:latin typeface="Calibri"/>
              </a:rPr>
              <a:t>Bascule instantanée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2468880"/>
            <a:ext cx="3429000" cy="3200400"/>
          </a:xfrm>
          <a:prstGeom prst="roundRect">
            <a:avLst>
              <a:gd name="adj" fmla="val 6000"/>
            </a:avLst>
          </a:prstGeom>
          <a:solidFill>
            <a:srgbClr val="1E2533"/>
          </a:solidFill>
          <a:ln w="12700">
            <a:solidFill>
              <a:srgbClr val="323C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5279" y="2633472"/>
            <a:ext cx="91440" cy="384048"/>
          </a:xfrm>
          <a:prstGeom prst="rect">
            <a:avLst/>
          </a:prstGeom>
          <a:solidFill>
            <a:srgbClr val="3FC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2651760"/>
            <a:ext cx="2971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Analyse auto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182112"/>
            <a:ext cx="29260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F7627"/>
                </a:solidFill>
                <a:latin typeface="Calibri"/>
              </a:rPr>
              <a:t>▸  </a:t>
            </a:r>
            <a:r>
              <a:rPr sz="1500" b="0">
                <a:solidFill>
                  <a:srgbClr val="E8EAED"/>
                </a:solidFill>
                <a:latin typeface="Calibri"/>
              </a:rPr>
              <a:t>Décision pilotée par métriques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979FB0"/>
                </a:solidFill>
                <a:latin typeface="Calibri"/>
              </a:rPr>
              <a:t>▸  </a:t>
            </a:r>
            <a:r>
              <a:rPr sz="1500" b="0">
                <a:solidFill>
                  <a:srgbClr val="979FB0"/>
                </a:solidFill>
                <a:latin typeface="Calibri"/>
              </a:rPr>
              <a:t>Promotion ou rollback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80644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E8EAED"/>
                </a:solidFill>
                <a:latin typeface="Calibri"/>
              </a:rPr>
              <a:t>→ Objectif : une mise en production </a:t>
            </a:r>
            <a:r>
              <a:rPr sz="1600" b="1">
                <a:solidFill>
                  <a:srgbClr val="EF7627"/>
                </a:solidFill>
                <a:latin typeface="Calibri"/>
              </a:rPr>
              <a:t>graduelle, mesurée et réversible automatiquement.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146304" cy="457200"/>
          </a:xfrm>
          <a:prstGeom prst="rect">
            <a:avLst/>
          </a:prstGeom>
          <a:solidFill>
            <a:srgbClr val="EF7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070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F7627"/>
                </a:solidFill>
                <a:latin typeface="Calibri"/>
              </a:rPr>
              <a:t>ARCHITECTURE INTERNE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Fonctionnement global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25880"/>
            <a:ext cx="11183112" cy="20116"/>
          </a:xfrm>
          <a:prstGeom prst="rect">
            <a:avLst/>
          </a:prstGeom>
          <a:solidFill>
            <a:srgbClr val="323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79FB0"/>
                </a:solidFill>
                <a:latin typeface="Calibri"/>
              </a:rPr>
              <a:t>Argo Rollouts — Projet de recherche Kubernetes &amp; GitOps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55664"/>
            <a:ext cx="16276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EF7627"/>
                </a:solidFill>
                <a:latin typeface="Calibri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1E2533"/>
          </a:solidFill>
          <a:ln w="12700">
            <a:solidFill>
              <a:srgbClr val="323C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09928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79FB0"/>
                </a:solidFill>
                <a:latin typeface="Consolas"/>
              </a:rPr>
              <a:t>ressources gérées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020824"/>
            <a:ext cx="5029200" cy="20116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Rollout  (remplace Deployment)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79FB0"/>
                </a:solidFill>
                <a:latin typeface="Consolas"/>
              </a:rPr>
              <a:t>   │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3FC46B"/>
                </a:solidFill>
                <a:latin typeface="Consolas"/>
              </a:rPr>
              <a:t>   ├─ ReplicaSet STABLE   v actuelle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F7627"/>
                </a:solidFill>
                <a:latin typeface="Consolas"/>
              </a:rPr>
              <a:t>   ├─ ReplicaSet CANARY   v nouvelle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55A8F5"/>
                </a:solidFill>
                <a:latin typeface="Consolas"/>
              </a:rPr>
              <a:t>   └─ AnalysisRun         décide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600200"/>
            <a:ext cx="4892040" cy="4206240"/>
          </a:xfrm>
          <a:prstGeom prst="roundRect">
            <a:avLst>
              <a:gd name="adj" fmla="val 6000"/>
            </a:avLst>
          </a:prstGeom>
          <a:solidFill>
            <a:srgbClr val="1E2533"/>
          </a:solidFill>
          <a:ln w="12700">
            <a:solidFill>
              <a:srgbClr val="323C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92240" y="1764792"/>
            <a:ext cx="91440" cy="384048"/>
          </a:xfrm>
          <a:prstGeom prst="rect">
            <a:avLst/>
          </a:prstGeom>
          <a:solidFill>
            <a:srgbClr val="EF7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59" y="1783080"/>
            <a:ext cx="4434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À chaque palier, le contrôleur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59" y="2313432"/>
            <a:ext cx="4389120" cy="3291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F7627"/>
                </a:solidFill>
                <a:latin typeface="Calibri"/>
              </a:rPr>
              <a:t>▸  </a:t>
            </a:r>
            <a:r>
              <a:rPr sz="1500" b="0">
                <a:solidFill>
                  <a:srgbClr val="E8EAED"/>
                </a:solidFill>
                <a:latin typeface="Calibri"/>
              </a:rPr>
              <a:t>Ajuste la proportion de trafic/pods canary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F7627"/>
                </a:solidFill>
                <a:latin typeface="Calibri"/>
              </a:rPr>
              <a:t>▸  </a:t>
            </a:r>
            <a:r>
              <a:rPr sz="1500" b="0">
                <a:solidFill>
                  <a:srgbClr val="E8EAED"/>
                </a:solidFill>
                <a:latin typeface="Calibri"/>
              </a:rPr>
              <a:t>Marque une pause (minutée ou manuelle)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F7627"/>
                </a:solidFill>
                <a:latin typeface="Calibri"/>
              </a:rPr>
              <a:t>▸  </a:t>
            </a:r>
            <a:r>
              <a:rPr sz="1500" b="0">
                <a:solidFill>
                  <a:srgbClr val="E8EAED"/>
                </a:solidFill>
                <a:latin typeface="Calibri"/>
              </a:rPr>
              <a:t>Lance une analyse de la santé du canary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3FC46B"/>
                </a:solidFill>
                <a:latin typeface="Calibri"/>
              </a:rPr>
              <a:t>✓  </a:t>
            </a:r>
            <a:r>
              <a:rPr sz="1500" b="1">
                <a:solidFill>
                  <a:srgbClr val="3FC46B"/>
                </a:solidFill>
                <a:latin typeface="Calibri"/>
              </a:rPr>
              <a:t>Promeut si OK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0645A"/>
                </a:solidFill>
                <a:latin typeface="Calibri"/>
              </a:rPr>
              <a:t>✕  </a:t>
            </a:r>
            <a:r>
              <a:rPr sz="1500" b="1">
                <a:solidFill>
                  <a:srgbClr val="F0645A"/>
                </a:solidFill>
                <a:latin typeface="Calibri"/>
              </a:rPr>
              <a:t>Rollback automatique si KO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069080"/>
            <a:ext cx="5486400" cy="1737360"/>
          </a:xfrm>
          <a:prstGeom prst="roundRect">
            <a:avLst>
              <a:gd name="adj" fmla="val 5000"/>
            </a:avLst>
          </a:prstGeom>
          <a:solidFill>
            <a:srgbClr val="1E2533"/>
          </a:solidFill>
          <a:ln w="12700">
            <a:solidFill>
              <a:srgbClr val="323C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178808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79FB0"/>
                </a:solidFill>
                <a:latin typeface="Consolas"/>
              </a:rPr>
              <a:t>exemple de stratégie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489704"/>
            <a:ext cx="5029200" cy="14630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FFFFFF"/>
                </a:solidFill>
                <a:latin typeface="Consolas"/>
              </a:rPr>
              <a:t>steps: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E8EAED"/>
                </a:solidFill>
                <a:latin typeface="Consolas"/>
              </a:rPr>
              <a:t>  - setWeight: 20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E8EAED"/>
                </a:solidFill>
                <a:latin typeface="Consolas"/>
              </a:rPr>
              <a:t>  - pause: { duration: 30s }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EF7627"/>
                </a:solidFill>
                <a:latin typeface="Consolas"/>
              </a:rPr>
              <a:t>  - analysis: { success-rate 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146304" cy="457200"/>
          </a:xfrm>
          <a:prstGeom prst="rect">
            <a:avLst/>
          </a:prstGeom>
          <a:solidFill>
            <a:srgbClr val="EF7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070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F7627"/>
                </a:solidFill>
                <a:latin typeface="Calibri"/>
              </a:rPr>
              <a:t>ADOPTION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Cas d'usage en entreprise &amp; écosystème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25880"/>
            <a:ext cx="11183112" cy="20116"/>
          </a:xfrm>
          <a:prstGeom prst="rect">
            <a:avLst/>
          </a:prstGeom>
          <a:solidFill>
            <a:srgbClr val="323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79FB0"/>
                </a:solidFill>
                <a:latin typeface="Calibri"/>
              </a:rPr>
              <a:t>Argo Rollouts — Projet de recherche Kubernetes &amp; GitOps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55664"/>
            <a:ext cx="16276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EF7627"/>
                </a:solidFill>
                <a:latin typeface="Calibri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5257800" cy="4206240"/>
          </a:xfrm>
          <a:prstGeom prst="roundRect">
            <a:avLst>
              <a:gd name="adj" fmla="val 6000"/>
            </a:avLst>
          </a:prstGeom>
          <a:solidFill>
            <a:srgbClr val="1E2533"/>
          </a:solidFill>
          <a:ln w="12700">
            <a:solidFill>
              <a:srgbClr val="323C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91440" cy="384048"/>
          </a:xfrm>
          <a:prstGeom prst="rect">
            <a:avLst/>
          </a:prstGeom>
          <a:solidFill>
            <a:srgbClr val="EF7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800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Utilisation en production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313432"/>
            <a:ext cx="4754880" cy="3291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F7627"/>
                </a:solidFill>
                <a:latin typeface="Calibri"/>
              </a:rPr>
              <a:t>▸  </a:t>
            </a:r>
            <a:r>
              <a:rPr sz="1500" b="0">
                <a:solidFill>
                  <a:srgbClr val="E8EAED"/>
                </a:solidFill>
                <a:latin typeface="Calibri"/>
              </a:rPr>
              <a:t>Réduire le risque : tester la v2 sur 5–10 % du trafic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F7627"/>
                </a:solidFill>
                <a:latin typeface="Calibri"/>
              </a:rPr>
              <a:t>▸  </a:t>
            </a:r>
            <a:r>
              <a:rPr sz="1500" b="0">
                <a:solidFill>
                  <a:srgbClr val="E8EAED"/>
                </a:solidFill>
                <a:latin typeface="Calibri"/>
              </a:rPr>
              <a:t>Déployer plusieurs fois/jour sans maintenance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F7627"/>
                </a:solidFill>
                <a:latin typeface="Calibri"/>
              </a:rPr>
              <a:t>▸  </a:t>
            </a:r>
            <a:r>
              <a:rPr sz="1500" b="0">
                <a:solidFill>
                  <a:srgbClr val="E8EAED"/>
                </a:solidFill>
                <a:latin typeface="Calibri"/>
              </a:rPr>
              <a:t>SLO-driven : promotion liée aux métriques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979FB0"/>
                </a:solidFill>
                <a:latin typeface="Calibri"/>
              </a:rPr>
              <a:t>–  </a:t>
            </a:r>
            <a:r>
              <a:rPr sz="1500" b="0">
                <a:solidFill>
                  <a:srgbClr val="E8EAED"/>
                </a:solidFill>
                <a:latin typeface="Calibri"/>
              </a:rPr>
              <a:t>latence, taux d'erreur, succès (Prometheus, Datadog…)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F7627"/>
                </a:solidFill>
                <a:latin typeface="Calibri"/>
              </a:rPr>
              <a:t>▸  </a:t>
            </a:r>
            <a:r>
              <a:rPr sz="1500" b="0">
                <a:solidFill>
                  <a:srgbClr val="E8EAED"/>
                </a:solidFill>
                <a:latin typeface="Calibri"/>
              </a:rPr>
              <a:t>Couplé au GitOps (ArgoCD / Flux)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00200"/>
            <a:ext cx="5120640" cy="4206240"/>
          </a:xfrm>
          <a:prstGeom prst="roundRect">
            <a:avLst>
              <a:gd name="adj" fmla="val 6000"/>
            </a:avLst>
          </a:prstGeom>
          <a:solidFill>
            <a:srgbClr val="1E2533"/>
          </a:solidFill>
          <a:ln w="12700">
            <a:solidFill>
              <a:srgbClr val="323C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764792"/>
            <a:ext cx="91440" cy="384048"/>
          </a:xfrm>
          <a:prstGeom prst="rect">
            <a:avLst/>
          </a:prstGeom>
          <a:solidFill>
            <a:srgbClr val="55A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59" y="1783080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Écosystème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59" y="2313432"/>
            <a:ext cx="4617720" cy="3291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F7627"/>
                </a:solidFill>
                <a:latin typeface="Calibri"/>
              </a:rPr>
              <a:t>▸  </a:t>
            </a:r>
            <a:r>
              <a:rPr sz="1500" b="0">
                <a:solidFill>
                  <a:srgbClr val="E8EAED"/>
                </a:solidFill>
                <a:latin typeface="Calibri"/>
              </a:rPr>
              <a:t>Projet CNCF (Argoproj), combo standard avec ArgoCD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F7627"/>
                </a:solidFill>
                <a:latin typeface="Calibri"/>
              </a:rPr>
              <a:t>▸  </a:t>
            </a:r>
            <a:r>
              <a:rPr sz="1500" b="0">
                <a:solidFill>
                  <a:srgbClr val="E8EAED"/>
                </a:solidFill>
                <a:latin typeface="Calibri"/>
              </a:rPr>
              <a:t>Voisins : Flagger (Flux), Spinnaker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F7627"/>
                </a:solidFill>
                <a:latin typeface="Calibri"/>
              </a:rPr>
              <a:t>▸  </a:t>
            </a:r>
            <a:r>
              <a:rPr sz="1500" b="0">
                <a:solidFill>
                  <a:srgbClr val="E8EAED"/>
                </a:solidFill>
                <a:latin typeface="Calibri"/>
              </a:rPr>
              <a:t>Analyse native : Prometheus, Datadog, New Relic,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979FB0"/>
                </a:solidFill>
                <a:latin typeface="Calibri"/>
              </a:rPr>
              <a:t>–  </a:t>
            </a:r>
            <a:r>
              <a:rPr sz="1500" b="0">
                <a:solidFill>
                  <a:srgbClr val="E8EAED"/>
                </a:solidFill>
                <a:latin typeface="Calibri"/>
              </a:rPr>
              <a:t>CloudWatch, Graphite, Job / Web custom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F7627"/>
                </a:solidFill>
                <a:latin typeface="Calibri"/>
              </a:rPr>
              <a:t>▸  </a:t>
            </a:r>
            <a:r>
              <a:rPr sz="1500" b="0">
                <a:solidFill>
                  <a:srgbClr val="E8EAED"/>
                </a:solidFill>
                <a:latin typeface="Calibri"/>
              </a:rPr>
              <a:t>Contextes : microservices, API critiques, e-commerce, SaaS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146304" cy="457200"/>
          </a:xfrm>
          <a:prstGeom prst="rect">
            <a:avLst/>
          </a:prstGeom>
          <a:solidFill>
            <a:srgbClr val="EF7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070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F7627"/>
                </a:solidFill>
                <a:latin typeface="Calibri"/>
              </a:rPr>
              <a:t>ANALYSE CRITIQUE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Avantages &amp; limites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25880"/>
            <a:ext cx="11183112" cy="20116"/>
          </a:xfrm>
          <a:prstGeom prst="rect">
            <a:avLst/>
          </a:prstGeom>
          <a:solidFill>
            <a:srgbClr val="323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79FB0"/>
                </a:solidFill>
                <a:latin typeface="Calibri"/>
              </a:rPr>
              <a:t>Argo Rollouts — Projet de recherche Kubernetes &amp; GitOps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55664"/>
            <a:ext cx="16276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EF7627"/>
                </a:solidFill>
                <a:latin typeface="Calibri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5257800" cy="4206240"/>
          </a:xfrm>
          <a:prstGeom prst="roundRect">
            <a:avLst>
              <a:gd name="adj" fmla="val 6000"/>
            </a:avLst>
          </a:prstGeom>
          <a:solidFill>
            <a:srgbClr val="1E2533"/>
          </a:solidFill>
          <a:ln w="12700">
            <a:solidFill>
              <a:srgbClr val="323C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91440" cy="384048"/>
          </a:xfrm>
          <a:prstGeom prst="rect">
            <a:avLst/>
          </a:prstGeom>
          <a:solidFill>
            <a:srgbClr val="3FC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800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Avantages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313432"/>
            <a:ext cx="4754880" cy="3291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3FC46B"/>
                </a:solidFill>
                <a:latin typeface="Calibri"/>
              </a:rPr>
              <a:t>✓  </a:t>
            </a:r>
            <a:r>
              <a:rPr sz="1500" b="1">
                <a:solidFill>
                  <a:srgbClr val="3FC46B"/>
                </a:solidFill>
                <a:latin typeface="Calibri"/>
              </a:rPr>
              <a:t>Rollback automatique → moins d'incidents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3FC46B"/>
                </a:solidFill>
                <a:latin typeface="Calibri"/>
              </a:rPr>
              <a:t>✓  </a:t>
            </a:r>
            <a:r>
              <a:rPr sz="1500" b="1">
                <a:solidFill>
                  <a:srgbClr val="3FC46B"/>
                </a:solidFill>
                <a:latin typeface="Calibri"/>
              </a:rPr>
              <a:t>Pas de downtime, exposition contrôlée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3FC46B"/>
                </a:solidFill>
                <a:latin typeface="Calibri"/>
              </a:rPr>
              <a:t>✓  </a:t>
            </a:r>
            <a:r>
              <a:rPr sz="1500" b="1">
                <a:solidFill>
                  <a:srgbClr val="3FC46B"/>
                </a:solidFill>
                <a:latin typeface="Calibri"/>
              </a:rPr>
              <a:t>Décision objective (métriques), pas « au feeling »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3FC46B"/>
                </a:solidFill>
                <a:latin typeface="Calibri"/>
              </a:rPr>
              <a:t>✓  </a:t>
            </a:r>
            <a:r>
              <a:rPr sz="1500" b="1">
                <a:solidFill>
                  <a:srgbClr val="3FC46B"/>
                </a:solidFill>
                <a:latin typeface="Calibri"/>
              </a:rPr>
              <a:t>Intégration native : ArgoCD, Prometheus, Istio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00200"/>
            <a:ext cx="5120640" cy="4206240"/>
          </a:xfrm>
          <a:prstGeom prst="roundRect">
            <a:avLst>
              <a:gd name="adj" fmla="val 6000"/>
            </a:avLst>
          </a:prstGeom>
          <a:solidFill>
            <a:srgbClr val="1E2533"/>
          </a:solidFill>
          <a:ln w="12700">
            <a:solidFill>
              <a:srgbClr val="323C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764792"/>
            <a:ext cx="91440" cy="384048"/>
          </a:xfrm>
          <a:prstGeom prst="rect">
            <a:avLst/>
          </a:prstGeom>
          <a:solidFill>
            <a:srgbClr val="F06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59" y="1783080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Limites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59" y="2313432"/>
            <a:ext cx="4617720" cy="3291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0645A"/>
                </a:solidFill>
                <a:latin typeface="Calibri"/>
              </a:rPr>
              <a:t>✕  </a:t>
            </a:r>
            <a:r>
              <a:rPr sz="1500" b="1">
                <a:solidFill>
                  <a:srgbClr val="F0645A"/>
                </a:solidFill>
                <a:latin typeface="Calibri"/>
              </a:rPr>
              <a:t>Complexité accrue (CRD, analyse, parfois mesh)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0645A"/>
                </a:solidFill>
                <a:latin typeface="Calibri"/>
              </a:rPr>
              <a:t>✕  </a:t>
            </a:r>
            <a:r>
              <a:rPr sz="1500" b="1">
                <a:solidFill>
                  <a:srgbClr val="F0645A"/>
                </a:solidFill>
                <a:latin typeface="Calibri"/>
              </a:rPr>
              <a:t>Trafic fin = Istio / NGINX / SMI requis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0645A"/>
                </a:solidFill>
                <a:latin typeface="Calibri"/>
              </a:rPr>
              <a:t>✕  </a:t>
            </a:r>
            <a:r>
              <a:rPr sz="1500" b="1">
                <a:solidFill>
                  <a:srgbClr val="F0645A"/>
                </a:solidFill>
                <a:latin typeface="Calibri"/>
              </a:rPr>
              <a:t>Nécessite de bonnes métriques (sinon fausse confiance)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0645A"/>
                </a:solidFill>
                <a:latin typeface="Calibri"/>
              </a:rPr>
              <a:t>✕  </a:t>
            </a:r>
            <a:r>
              <a:rPr sz="1500" b="1">
                <a:solidFill>
                  <a:srgbClr val="F0645A"/>
                </a:solidFill>
                <a:latin typeface="Calibri"/>
              </a:rPr>
              <a:t>Courbe d'apprentissage, observabilité indispensable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146304" cy="457200"/>
          </a:xfrm>
          <a:prstGeom prst="rect">
            <a:avLst/>
          </a:prstGeom>
          <a:solidFill>
            <a:srgbClr val="EF7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070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F7627"/>
                </a:solidFill>
                <a:latin typeface="Calibri"/>
              </a:rPr>
              <a:t>STACK &amp; FLUX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Architecture de la démo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25880"/>
            <a:ext cx="11183112" cy="20116"/>
          </a:xfrm>
          <a:prstGeom prst="rect">
            <a:avLst/>
          </a:prstGeom>
          <a:solidFill>
            <a:srgbClr val="323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79FB0"/>
                </a:solidFill>
                <a:latin typeface="Calibri"/>
              </a:rPr>
              <a:t>Argo Rollouts — Projet de recherche Kubernetes &amp; GitOps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55664"/>
            <a:ext cx="16276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EF7627"/>
                </a:solidFill>
                <a:latin typeface="Calibri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1965960"/>
          </a:xfrm>
          <a:prstGeom prst="roundRect">
            <a:avLst>
              <a:gd name="adj" fmla="val 5000"/>
            </a:avLst>
          </a:prstGeom>
          <a:solidFill>
            <a:srgbClr val="1E2533"/>
          </a:solidFill>
          <a:ln w="12700">
            <a:solidFill>
              <a:srgbClr val="323C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09928"/>
            <a:ext cx="10149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79FB0"/>
                </a:solidFill>
                <a:latin typeface="Consolas"/>
              </a:rPr>
              <a:t>flux GitOps de bout en bout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020824"/>
            <a:ext cx="10149840" cy="16916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E8EAED"/>
                </a:solidFill>
                <a:latin typeface="Consolas"/>
              </a:rPr>
              <a:t>git push ─▶ GitHub Actions (lint + validation des manifests)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F7627"/>
                </a:solidFill>
                <a:latin typeface="Consolas"/>
              </a:rPr>
              <a:t>        └─▶ ArgoCD (pull) ─▶ Rollout ─▶ Contrôleur Argo Rollouts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3FC46B"/>
                </a:solidFill>
                <a:latin typeface="Consolas"/>
              </a:rPr>
              <a:t>                                          ├─ ReplicaSet stable / canary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55A8F5"/>
                </a:solidFill>
                <a:latin typeface="Consolas"/>
              </a:rPr>
              <a:t>                                          └─ AnalysisRun (Job de sonde HTTP)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794760"/>
            <a:ext cx="5212080" cy="2331720"/>
          </a:xfrm>
          <a:prstGeom prst="roundRect">
            <a:avLst>
              <a:gd name="adj" fmla="val 6000"/>
            </a:avLst>
          </a:prstGeom>
          <a:solidFill>
            <a:srgbClr val="1E2533"/>
          </a:solidFill>
          <a:ln w="12700">
            <a:solidFill>
              <a:srgbClr val="323C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959352"/>
            <a:ext cx="91440" cy="384048"/>
          </a:xfrm>
          <a:prstGeom prst="rect">
            <a:avLst/>
          </a:prstGeom>
          <a:solidFill>
            <a:srgbClr val="EF7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977640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Environnement &amp; astuce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507992"/>
            <a:ext cx="4709160" cy="14173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EF7627"/>
                </a:solidFill>
                <a:latin typeface="Calibri"/>
              </a:rPr>
              <a:t>▸  </a:t>
            </a:r>
            <a:r>
              <a:rPr sz="1400" b="0">
                <a:solidFill>
                  <a:srgbClr val="E8EAED"/>
                </a:solidFill>
                <a:latin typeface="Calibri"/>
              </a:rPr>
              <a:t>Cluster kind + ArgoCD + Argo Rollouts v1.7.2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EF7627"/>
                </a:solidFill>
                <a:latin typeface="Calibri"/>
              </a:rPr>
              <a:t>▸  </a:t>
            </a:r>
            <a:r>
              <a:rPr sz="1400" b="0">
                <a:solidFill>
                  <a:srgbClr val="E8EAED"/>
                </a:solidFill>
                <a:latin typeface="Calibri"/>
              </a:rPr>
              <a:t>App rollouts-demo : 1 couleur = 1 version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0645A"/>
                </a:solidFill>
                <a:latin typeface="Calibri"/>
              </a:rPr>
              <a:t>✕  </a:t>
            </a:r>
            <a:r>
              <a:rPr sz="1400" b="1">
                <a:solidFill>
                  <a:srgbClr val="F0645A"/>
                </a:solidFill>
                <a:latin typeface="Calibri"/>
              </a:rPr>
              <a:t>Le tag bad-red renvoie des HTTP 500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979FB0"/>
                </a:solidFill>
                <a:latin typeface="Calibri"/>
              </a:rPr>
              <a:t>–  </a:t>
            </a:r>
            <a:r>
              <a:rPr sz="1400" b="0">
                <a:solidFill>
                  <a:srgbClr val="E8EAED"/>
                </a:solidFill>
                <a:latin typeface="Calibri"/>
              </a:rPr>
              <a:t>version « buggée » déterministe pour le rollback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0216" y="3739896"/>
            <a:ext cx="4810315" cy="2258568"/>
          </a:xfrm>
          <a:prstGeom prst="roundRect">
            <a:avLst>
              <a:gd name="adj" fmla="val 3000"/>
            </a:avLst>
          </a:prstGeom>
          <a:solidFill>
            <a:srgbClr val="1E2533"/>
          </a:solidFill>
          <a:ln w="12700">
            <a:solidFill>
              <a:srgbClr val="323C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ui-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3794760"/>
            <a:ext cx="4700587" cy="21488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355080" y="5961888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79FB0"/>
                </a:solidFill>
                <a:latin typeface="Calibri"/>
              </a:rPr>
              <a:t>Capture réelle de l'UI de l'app de démo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146304" cy="457200"/>
          </a:xfrm>
          <a:prstGeom prst="rect">
            <a:avLst/>
          </a:prstGeom>
          <a:solidFill>
            <a:srgbClr val="EF7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070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F7627"/>
                </a:solidFill>
                <a:latin typeface="Calibri"/>
              </a:rPr>
              <a:t>DÉCISIONS D'IMPLÉMENTATION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Choix techniques clés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25880"/>
            <a:ext cx="11183112" cy="20116"/>
          </a:xfrm>
          <a:prstGeom prst="rect">
            <a:avLst/>
          </a:prstGeom>
          <a:solidFill>
            <a:srgbClr val="323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79FB0"/>
                </a:solidFill>
                <a:latin typeface="Calibri"/>
              </a:rPr>
              <a:t>Argo Rollouts — Projet de recherche Kubernetes &amp; GitOps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55664"/>
            <a:ext cx="16276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EF7627"/>
                </a:solidFill>
                <a:latin typeface="Calibri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206240"/>
          </a:xfrm>
          <a:prstGeom prst="roundRect">
            <a:avLst>
              <a:gd name="adj" fmla="val 6000"/>
            </a:avLst>
          </a:prstGeom>
          <a:solidFill>
            <a:srgbClr val="1E2533"/>
          </a:solidFill>
          <a:ln w="12700">
            <a:solidFill>
              <a:srgbClr val="323C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91440" cy="384048"/>
          </a:xfrm>
          <a:prstGeom prst="rect">
            <a:avLst/>
          </a:prstGeom>
          <a:solidFill>
            <a:srgbClr val="EF7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10149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 décisions structurantes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313432"/>
            <a:ext cx="10104119" cy="3291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F7627"/>
                </a:solidFill>
                <a:latin typeface="Calibri"/>
              </a:rPr>
              <a:t>▸  </a:t>
            </a:r>
            <a:r>
              <a:rPr sz="1600" b="0">
                <a:solidFill>
                  <a:srgbClr val="E8EAED"/>
                </a:solidFill>
                <a:latin typeface="Calibri"/>
              </a:rPr>
              <a:t>Canary sans service mesh → split par nombre de pods (simple, portable)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F7627"/>
                </a:solidFill>
                <a:latin typeface="Calibri"/>
              </a:rPr>
              <a:t>▸  </a:t>
            </a:r>
            <a:r>
              <a:rPr sz="1600" b="0">
                <a:solidFill>
                  <a:srgbClr val="E8EAED"/>
                </a:solidFill>
                <a:latin typeface="Calibri"/>
              </a:rPr>
              <a:t>Services stable + canary : le contrôleur y injecte le pod-template-hash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979FB0"/>
                </a:solidFill>
                <a:latin typeface="Calibri"/>
              </a:rPr>
              <a:t>–  </a:t>
            </a:r>
            <a:r>
              <a:rPr sz="1600" b="0">
                <a:solidFill>
                  <a:srgbClr val="E8EAED"/>
                </a:solidFill>
                <a:latin typeface="Calibri"/>
              </a:rPr>
              <a:t>la sonde cible ainsi précisément les pods canary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F7627"/>
                </a:solidFill>
                <a:latin typeface="Calibri"/>
              </a:rPr>
              <a:t>▸  </a:t>
            </a:r>
            <a:r>
              <a:rPr sz="1600" b="0">
                <a:solidFill>
                  <a:srgbClr val="E8EAED"/>
                </a:solidFill>
                <a:latin typeface="Calibri"/>
              </a:rPr>
              <a:t>Probes TCP (et non HTTP /color) : les pods bad-red restent Ready malgré les 500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979FB0"/>
                </a:solidFill>
                <a:latin typeface="Calibri"/>
              </a:rPr>
              <a:t>–  </a:t>
            </a:r>
            <a:r>
              <a:rPr sz="1600" b="0">
                <a:solidFill>
                  <a:srgbClr val="E8EAED"/>
                </a:solidFill>
                <a:latin typeface="Calibri"/>
              </a:rPr>
              <a:t>on démontre un rollback piloté par l'ANALYSE, pas par la santé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F7627"/>
                </a:solidFill>
                <a:latin typeface="Calibri"/>
              </a:rPr>
              <a:t>▸  </a:t>
            </a:r>
            <a:r>
              <a:rPr sz="1600" b="0">
                <a:solidFill>
                  <a:srgbClr val="E8EAED"/>
                </a:solidFill>
                <a:latin typeface="Calibri"/>
              </a:rPr>
              <a:t>AnalysisTemplate de type Job : sonde 30 requêtes, exige ≥ 95 % de succès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979FB0"/>
                </a:solidFill>
                <a:latin typeface="Calibri"/>
              </a:rPr>
              <a:t>–  </a:t>
            </a:r>
            <a:r>
              <a:rPr sz="1600" b="0">
                <a:solidFill>
                  <a:srgbClr val="E8EAED"/>
                </a:solidFill>
                <a:latin typeface="Calibri"/>
              </a:rPr>
              <a:t>autonome ; variante Prometheus fournie pour la production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146304" cy="457200"/>
          </a:xfrm>
          <a:prstGeom prst="rect">
            <a:avLst/>
          </a:prstGeom>
          <a:solidFill>
            <a:srgbClr val="EF7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070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F7627"/>
                </a:solidFill>
                <a:latin typeface="Calibri"/>
              </a:rPr>
              <a:t>PROMOTION AUTOMATIQUE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Démo 1 — Canary sain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25880"/>
            <a:ext cx="11183112" cy="20116"/>
          </a:xfrm>
          <a:prstGeom prst="rect">
            <a:avLst/>
          </a:prstGeom>
          <a:solidFill>
            <a:srgbClr val="323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79FB0"/>
                </a:solidFill>
                <a:latin typeface="Calibri"/>
              </a:rPr>
              <a:t>Argo Rollouts — Projet de recherche Kubernetes &amp; GitOps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55664"/>
            <a:ext cx="16276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EF7627"/>
                </a:solidFill>
                <a:latin typeface="Calibri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3246120" cy="4206240"/>
          </a:xfrm>
          <a:prstGeom prst="roundRect">
            <a:avLst>
              <a:gd name="adj" fmla="val 6000"/>
            </a:avLst>
          </a:prstGeom>
          <a:solidFill>
            <a:srgbClr val="1E2533"/>
          </a:solidFill>
          <a:ln w="12700">
            <a:solidFill>
              <a:srgbClr val="323C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91440" cy="384048"/>
          </a:xfrm>
          <a:prstGeom prst="rect">
            <a:avLst/>
          </a:prstGeom>
          <a:solidFill>
            <a:srgbClr val="3FC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2788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Scénario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313432"/>
            <a:ext cx="2743200" cy="3291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EF7627"/>
                </a:solidFill>
                <a:latin typeface="Calibri"/>
              </a:rPr>
              <a:t>▸  </a:t>
            </a:r>
            <a:r>
              <a:rPr sz="1400" b="0">
                <a:solidFill>
                  <a:srgbClr val="E8EAED"/>
                </a:solidFill>
                <a:latin typeface="Calibri"/>
              </a:rPr>
              <a:t>Déploiement de la version green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979FB0"/>
                </a:solidFill>
                <a:latin typeface="Calibri"/>
              </a:rPr>
              <a:t>▸  </a:t>
            </a:r>
            <a:r>
              <a:rPr sz="1400" b="0">
                <a:solidFill>
                  <a:srgbClr val="979FB0"/>
                </a:solidFill>
                <a:latin typeface="Calibri"/>
              </a:rPr>
              <a:t>Canary 20% → 40%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EF7627"/>
                </a:solidFill>
                <a:latin typeface="Calibri"/>
              </a:rPr>
              <a:t>▸  </a:t>
            </a:r>
            <a:r>
              <a:rPr sz="1400" b="0">
                <a:solidFill>
                  <a:srgbClr val="E8EAED"/>
                </a:solidFill>
                <a:latin typeface="Calibri"/>
              </a:rPr>
              <a:t>AnalysisRun sonde le canary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3FC46B"/>
                </a:solidFill>
                <a:latin typeface="Calibri"/>
              </a:rPr>
              <a:t>✓  </a:t>
            </a:r>
            <a:r>
              <a:rPr sz="1400" b="1">
                <a:solidFill>
                  <a:srgbClr val="3FC46B"/>
                </a:solidFill>
                <a:latin typeface="Calibri"/>
              </a:rPr>
              <a:t>30/30 = 100 % (seuil 95%)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3FC46B"/>
                </a:solidFill>
                <a:latin typeface="Calibri"/>
              </a:rPr>
              <a:t>✓  </a:t>
            </a:r>
            <a:r>
              <a:rPr sz="1400" b="1">
                <a:solidFill>
                  <a:srgbClr val="3FC46B"/>
                </a:solidFill>
                <a:latin typeface="Calibri"/>
              </a:rPr>
              <a:t>Promotion auto à 100 %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97096" y="1545336"/>
            <a:ext cx="6840980" cy="4407408"/>
          </a:xfrm>
          <a:prstGeom prst="roundRect">
            <a:avLst>
              <a:gd name="adj" fmla="val 3000"/>
            </a:avLst>
          </a:prstGeom>
          <a:solidFill>
            <a:srgbClr val="1E2533"/>
          </a:solidFill>
          <a:ln w="12700">
            <a:solidFill>
              <a:srgbClr val="323C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emo-canary-inprogr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600200"/>
            <a:ext cx="6731252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146304" cy="457200"/>
          </a:xfrm>
          <a:prstGeom prst="rect">
            <a:avLst/>
          </a:prstGeom>
          <a:solidFill>
            <a:srgbClr val="EF7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070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F7627"/>
                </a:solidFill>
                <a:latin typeface="Calibri"/>
              </a:rPr>
              <a:t>ROLLBACK AUTOMATIQUE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Démo 2 — Canary défaillant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25880"/>
            <a:ext cx="11183112" cy="20116"/>
          </a:xfrm>
          <a:prstGeom prst="rect">
            <a:avLst/>
          </a:prstGeom>
          <a:solidFill>
            <a:srgbClr val="323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79FB0"/>
                </a:solidFill>
                <a:latin typeface="Calibri"/>
              </a:rPr>
              <a:t>Argo Rollouts — Projet de recherche Kubernetes &amp; GitOps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55664"/>
            <a:ext cx="16276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EF7627"/>
                </a:solidFill>
                <a:latin typeface="Calibri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3246120" cy="4206240"/>
          </a:xfrm>
          <a:prstGeom prst="roundRect">
            <a:avLst>
              <a:gd name="adj" fmla="val 6000"/>
            </a:avLst>
          </a:prstGeom>
          <a:solidFill>
            <a:srgbClr val="1E2533"/>
          </a:solidFill>
          <a:ln w="12700">
            <a:solidFill>
              <a:srgbClr val="323C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91440" cy="384048"/>
          </a:xfrm>
          <a:prstGeom prst="rect">
            <a:avLst/>
          </a:prstGeom>
          <a:solidFill>
            <a:srgbClr val="F06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2788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Scénario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313432"/>
            <a:ext cx="2743200" cy="3291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EF7627"/>
                </a:solidFill>
                <a:latin typeface="Calibri"/>
              </a:rPr>
              <a:t>▸  </a:t>
            </a:r>
            <a:r>
              <a:rPr sz="1400" b="0">
                <a:solidFill>
                  <a:srgbClr val="E8EAED"/>
                </a:solidFill>
                <a:latin typeface="Calibri"/>
              </a:rPr>
              <a:t>Déploiement de bad-red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0645A"/>
                </a:solidFill>
                <a:latin typeface="Calibri"/>
              </a:rPr>
              <a:t>✕  </a:t>
            </a:r>
            <a:r>
              <a:rPr sz="1400" b="1">
                <a:solidFill>
                  <a:srgbClr val="F0645A"/>
                </a:solidFill>
                <a:latin typeface="Calibri"/>
              </a:rPr>
              <a:t>Réponses HTTP 500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0645A"/>
                </a:solidFill>
                <a:latin typeface="Calibri"/>
              </a:rPr>
              <a:t>✕  </a:t>
            </a:r>
            <a:r>
              <a:rPr sz="1400" b="1">
                <a:solidFill>
                  <a:srgbClr val="F0645A"/>
                </a:solidFill>
                <a:latin typeface="Calibri"/>
              </a:rPr>
              <a:t>Sonde : 5/30 = 16 %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0645A"/>
                </a:solidFill>
                <a:latin typeface="Calibri"/>
              </a:rPr>
              <a:t>✕  </a:t>
            </a:r>
            <a:r>
              <a:rPr sz="1400" b="1">
                <a:solidFill>
                  <a:srgbClr val="F0645A"/>
                </a:solidFill>
                <a:latin typeface="Calibri"/>
              </a:rPr>
              <a:t>Metric Failed → RolloutAborted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3FC46B"/>
                </a:solidFill>
                <a:latin typeface="Calibri"/>
              </a:rPr>
              <a:t>✓  </a:t>
            </a:r>
            <a:r>
              <a:rPr sz="1400" b="1">
                <a:solidFill>
                  <a:srgbClr val="3FC46B"/>
                </a:solidFill>
                <a:latin typeface="Calibri"/>
              </a:rPr>
              <a:t>Trafic gardé sur green, 0 downtime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97096" y="1728216"/>
            <a:ext cx="7141636" cy="4041648"/>
          </a:xfrm>
          <a:prstGeom prst="roundRect">
            <a:avLst>
              <a:gd name="adj" fmla="val 3000"/>
            </a:avLst>
          </a:prstGeom>
          <a:solidFill>
            <a:srgbClr val="1E2533"/>
          </a:solidFill>
          <a:ln w="12700">
            <a:solidFill>
              <a:srgbClr val="323C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emo-rollb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783080"/>
            <a:ext cx="7031908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146304" cy="457200"/>
          </a:xfrm>
          <a:prstGeom prst="rect">
            <a:avLst/>
          </a:prstGeom>
          <a:solidFill>
            <a:srgbClr val="EF7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070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F7627"/>
                </a:solidFill>
                <a:latin typeface="Calibri"/>
              </a:rPr>
              <a:t>CONCLUSION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Bilan, avis &amp; améliorations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25880"/>
            <a:ext cx="11183112" cy="20116"/>
          </a:xfrm>
          <a:prstGeom prst="rect">
            <a:avLst/>
          </a:prstGeom>
          <a:solidFill>
            <a:srgbClr val="323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79FB0"/>
                </a:solidFill>
                <a:latin typeface="Calibri"/>
              </a:rPr>
              <a:t>Argo Rollouts — Projet de recherche Kubernetes &amp; GitOps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55664"/>
            <a:ext cx="16276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EF7627"/>
                </a:solidFill>
                <a:latin typeface="Calibri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5257800" cy="2697480"/>
          </a:xfrm>
          <a:prstGeom prst="roundRect">
            <a:avLst>
              <a:gd name="adj" fmla="val 6000"/>
            </a:avLst>
          </a:prstGeom>
          <a:solidFill>
            <a:srgbClr val="1E2533"/>
          </a:solidFill>
          <a:ln w="12700">
            <a:solidFill>
              <a:srgbClr val="323C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91440" cy="384048"/>
          </a:xfrm>
          <a:prstGeom prst="rect">
            <a:avLst/>
          </a:prstGeom>
          <a:solidFill>
            <a:srgbClr val="55A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800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Ce que j'ai appris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313432"/>
            <a:ext cx="4754880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EF7627"/>
                </a:solidFill>
                <a:latin typeface="Calibri"/>
              </a:rPr>
              <a:t>▸  </a:t>
            </a:r>
            <a:r>
              <a:rPr sz="1400" b="0">
                <a:solidFill>
                  <a:srgbClr val="E8EAED"/>
                </a:solidFill>
                <a:latin typeface="Calibri"/>
              </a:rPr>
              <a:t>Le progressive delivery en pratique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EF7627"/>
                </a:solidFill>
                <a:latin typeface="Calibri"/>
              </a:rPr>
              <a:t>▸  </a:t>
            </a:r>
            <a:r>
              <a:rPr sz="1400" b="0">
                <a:solidFill>
                  <a:srgbClr val="E8EAED"/>
                </a:solidFill>
                <a:latin typeface="Calibri"/>
              </a:rPr>
              <a:t>L'imbrication GitOps ↔ Rollouts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EF7627"/>
                </a:solidFill>
                <a:latin typeface="Calibri"/>
              </a:rPr>
              <a:t>▸  </a:t>
            </a:r>
            <a:r>
              <a:rPr sz="1400" b="0">
                <a:solidFill>
                  <a:srgbClr val="E8EAED"/>
                </a:solidFill>
                <a:latin typeface="Calibri"/>
              </a:rPr>
              <a:t>Les métriques comme contrat de qualité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00200"/>
            <a:ext cx="5120640" cy="2697480"/>
          </a:xfrm>
          <a:prstGeom prst="roundRect">
            <a:avLst>
              <a:gd name="adj" fmla="val 6000"/>
            </a:avLst>
          </a:prstGeom>
          <a:solidFill>
            <a:srgbClr val="1E2533"/>
          </a:solidFill>
          <a:ln w="12700">
            <a:solidFill>
              <a:srgbClr val="323C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764792"/>
            <a:ext cx="91440" cy="384048"/>
          </a:xfrm>
          <a:prstGeom prst="rect">
            <a:avLst/>
          </a:prstGeom>
          <a:solidFill>
            <a:srgbClr val="EF7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59" y="1783080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Mon avis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59" y="2313432"/>
            <a:ext cx="4617720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3FC46B"/>
                </a:solidFill>
                <a:latin typeface="Calibri"/>
              </a:rPr>
              <a:t>✓  </a:t>
            </a:r>
            <a:r>
              <a:rPr sz="1400" b="1">
                <a:solidFill>
                  <a:srgbClr val="3FC46B"/>
                </a:solidFill>
                <a:latin typeface="Calibri"/>
              </a:rPr>
              <a:t>Excellent compromis sécurité / vélocité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979FB0"/>
                </a:solidFill>
                <a:latin typeface="Calibri"/>
              </a:rPr>
              <a:t>▸  </a:t>
            </a:r>
            <a:r>
              <a:rPr sz="1400" b="0">
                <a:solidFill>
                  <a:srgbClr val="979FB0"/>
                </a:solidFill>
                <a:latin typeface="Calibri"/>
              </a:rPr>
              <a:t>Pour des services critiques à fort trafic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0645A"/>
                </a:solidFill>
                <a:latin typeface="Calibri"/>
              </a:rPr>
              <a:t>✕  </a:t>
            </a:r>
            <a:r>
              <a:rPr sz="1400" b="1">
                <a:solidFill>
                  <a:srgbClr val="F0645A"/>
                </a:solidFill>
                <a:latin typeface="Calibri"/>
              </a:rPr>
              <a:t>Overkill pour un petit mono-service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480560"/>
            <a:ext cx="10607040" cy="1417320"/>
          </a:xfrm>
          <a:prstGeom prst="roundRect">
            <a:avLst>
              <a:gd name="adj" fmla="val 6000"/>
            </a:avLst>
          </a:prstGeom>
          <a:solidFill>
            <a:srgbClr val="1E2533"/>
          </a:solidFill>
          <a:ln w="12700">
            <a:solidFill>
              <a:srgbClr val="323C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645152"/>
            <a:ext cx="91440" cy="384048"/>
          </a:xfrm>
          <a:prstGeom prst="rect">
            <a:avLst/>
          </a:prstGeom>
          <a:solidFill>
            <a:srgbClr val="EF7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663440"/>
            <a:ext cx="10149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Améliorations possibles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5193792"/>
            <a:ext cx="1010411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979FB0"/>
                </a:solidFill>
                <a:latin typeface="Calibri"/>
              </a:rPr>
              <a:t>▸  </a:t>
            </a:r>
            <a:r>
              <a:rPr sz="1400" b="0">
                <a:solidFill>
                  <a:srgbClr val="979FB0"/>
                </a:solidFill>
                <a:latin typeface="Calibri"/>
              </a:rPr>
              <a:t>Trafic fin via Istio/NGINX · analyse Prometheus réelle (p95 + erreurs) · notifications Slack · Blue-Green avec tests preview · multi-cluster ApplicationSet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F7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28600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Merci de votre attention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383280"/>
            <a:ext cx="2743200" cy="45720"/>
          </a:xfrm>
          <a:prstGeom prst="rect">
            <a:avLst/>
          </a:prstGeom>
          <a:solidFill>
            <a:srgbClr val="EF7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611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0">
                <a:solidFill>
                  <a:srgbClr val="979FB0"/>
                </a:solidFill>
                <a:latin typeface="Calibri"/>
              </a:rPr>
              <a:t>Questions 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4480560"/>
            <a:ext cx="7498079" cy="914400"/>
          </a:xfrm>
          <a:prstGeom prst="roundRect">
            <a:avLst>
              <a:gd name="adj" fmla="val 5000"/>
            </a:avLst>
          </a:prstGeom>
          <a:solidFill>
            <a:srgbClr val="1E2533"/>
          </a:solidFill>
          <a:ln w="12700">
            <a:solidFill>
              <a:srgbClr val="323C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553712"/>
            <a:ext cx="7040879" cy="640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3FC46B"/>
                </a:solidFill>
                <a:latin typeface="Consolas"/>
              </a:rPr>
              <a:t>kubectl argo rollouts get rollout rollouts-demo --watch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6692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5A8F5"/>
                </a:solidFill>
                <a:latin typeface="Calibri"/>
              </a:rPr>
              <a:t>github.com/Louis-JB/argo-rollouts-demo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