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68680" y="2377440"/>
            <a:ext cx="384048" cy="457200"/>
          </a:xfrm>
          <a:prstGeom prst="roundRect">
            <a:avLst>
              <a:gd name="adj" fmla="val 25000"/>
            </a:avLst>
          </a:prstGeom>
          <a:solidFill>
            <a:srgbClr val="32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2103120"/>
            <a:ext cx="384048" cy="731520"/>
          </a:xfrm>
          <a:prstGeom prst="roundRect">
            <a:avLst>
              <a:gd name="adj" fmla="val 25000"/>
            </a:avLst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74519" y="1828800"/>
            <a:ext cx="384048" cy="1005840"/>
          </a:xfrm>
          <a:prstGeom prst="roundRect">
            <a:avLst>
              <a:gd name="adj" fmla="val 25000"/>
            </a:avLst>
          </a:prstGeom>
          <a:solidFill>
            <a:srgbClr val="3FC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306324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Argo Rollouts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069080"/>
            <a:ext cx="3291840" cy="54864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25196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979FB0"/>
                </a:solidFill>
                <a:latin typeface="Calibri"/>
              </a:rPr>
              <a:t>Déploiement progressif &amp; rollback automatique sur Kubernetes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9436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979FB0"/>
                </a:solidFill>
                <a:latin typeface="Calibri"/>
              </a:rPr>
              <a:t>Projet de recherche — Écosystème Kubernetes &amp; GitOps</a:t>
            </a:r>
            <a:r>
              <a:rPr sz="1300" b="0">
                <a:solidFill>
                  <a:srgbClr val="323C4F"/>
                </a:solidFill>
                <a:latin typeface="Calibri"/>
              </a:rPr>
              <a:t>      •      </a:t>
            </a:r>
            <a:r>
              <a:rPr sz="1300" b="1">
                <a:solidFill>
                  <a:srgbClr val="EF7627"/>
                </a:solidFill>
                <a:latin typeface="Calibri"/>
              </a:rPr>
              <a:t>Louis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46304" cy="4572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Plan de la présentation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11183112" cy="20116"/>
          </a:xfrm>
          <a:prstGeom prst="rect">
            <a:avLst/>
          </a:prstGeom>
          <a:solidFill>
            <a:srgbClr val="32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79FB0"/>
                </a:solidFill>
                <a:latin typeface="Calibri"/>
              </a:rPr>
              <a:t>Argo Rollouts — Projet de recherche Kubernetes &amp; GitOps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55664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F7627"/>
                </a:solidFill>
                <a:latin typeface="Calibri"/>
              </a:rPr>
              <a:t>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91640"/>
            <a:ext cx="10607040" cy="932688"/>
          </a:xfrm>
          <a:prstGeom prst="roundRect">
            <a:avLst>
              <a:gd name="adj" fmla="val 10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20" y="1883664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41823"/>
          </a:solidFill>
          <a:ln w="19050">
            <a:solidFill>
              <a:srgbClr val="EF76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8366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F7627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1819656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La technologie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194560"/>
            <a:ext cx="9418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979FB0"/>
                </a:solidFill>
                <a:latin typeface="Calibri"/>
              </a:rPr>
              <a:t>Le problème, la définition, le fonctionnement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788920"/>
            <a:ext cx="10607040" cy="932688"/>
          </a:xfrm>
          <a:prstGeom prst="roundRect">
            <a:avLst>
              <a:gd name="adj" fmla="val 10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0120" y="2980944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41823"/>
          </a:solidFill>
          <a:ln w="19050">
            <a:solidFill>
              <a:srgbClr val="EF76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9809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F7627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2916936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Cas d'usage professionnel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3291839"/>
            <a:ext cx="9418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979FB0"/>
                </a:solidFill>
                <a:latin typeface="Calibri"/>
              </a:rPr>
              <a:t>Où, comment, avantages &amp; limites, écosystème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886200"/>
            <a:ext cx="10607040" cy="932688"/>
          </a:xfrm>
          <a:prstGeom prst="roundRect">
            <a:avLst>
              <a:gd name="adj" fmla="val 10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0120" y="4078224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41823"/>
          </a:solidFill>
          <a:ln w="19050">
            <a:solidFill>
              <a:srgbClr val="EF76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07822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F7627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4014215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Mise en œuvre technique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389120"/>
            <a:ext cx="9418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979FB0"/>
                </a:solidFill>
                <a:latin typeface="Calibri"/>
              </a:rPr>
              <a:t>Architecture, choix, démonstration live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983479"/>
            <a:ext cx="10607040" cy="932688"/>
          </a:xfrm>
          <a:prstGeom prst="roundRect">
            <a:avLst>
              <a:gd name="adj" fmla="val 10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60120" y="5175503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41823"/>
          </a:solidFill>
          <a:ln w="19050">
            <a:solidFill>
              <a:srgbClr val="EF76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175503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F7627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5111495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Retour d'expérience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5486399"/>
            <a:ext cx="9418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979FB0"/>
                </a:solidFill>
                <a:latin typeface="Calibri"/>
              </a:rPr>
              <a:t>Bilan, avis personnel, améliorations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46304" cy="4572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F7627"/>
                </a:solidFill>
                <a:latin typeface="Calibri"/>
              </a:rPr>
              <a:t>CONTEXTE &amp; DÉMARCHE DU DOSSIER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Pourquoi ce sujet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11183112" cy="20116"/>
          </a:xfrm>
          <a:prstGeom prst="rect">
            <a:avLst/>
          </a:prstGeom>
          <a:solidFill>
            <a:srgbClr val="32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79FB0"/>
                </a:solidFill>
                <a:latin typeface="Calibri"/>
              </a:rPr>
              <a:t>Argo Rollouts — Projet de recherche Kubernetes &amp; GitOps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55664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F7627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E8EAED"/>
                </a:solidFill>
                <a:latin typeface="Calibri"/>
              </a:rPr>
              <a:t>Kubernetes et le GitOps sont devenus les </a:t>
            </a:r>
            <a:r>
              <a:rPr sz="1600" b="1">
                <a:solidFill>
                  <a:srgbClr val="FFFFFF"/>
                </a:solidFill>
                <a:latin typeface="Calibri"/>
              </a:rPr>
              <a:t>standards de l'industrie</a:t>
            </a:r>
            <a:r>
              <a:rPr sz="1600" b="0">
                <a:solidFill>
                  <a:srgbClr val="E8EAED"/>
                </a:solidFill>
                <a:latin typeface="Calibri"/>
              </a:rPr>
              <a:t> pour déployer et exploiter les applications. Dans cet écosystème, j'ai choisi de creuser le </a:t>
            </a:r>
            <a:r>
              <a:rPr sz="1600" b="1">
                <a:solidFill>
                  <a:srgbClr val="EF7627"/>
                </a:solidFill>
                <a:latin typeface="Calibri"/>
              </a:rPr>
              <a:t>déploiement progressif</a:t>
            </a:r>
            <a:r>
              <a:rPr sz="1600" b="0">
                <a:solidFill>
                  <a:srgbClr val="E8EAED"/>
                </a:solidFill>
                <a:latin typeface="Calibri"/>
              </a:rPr>
              <a:t> avec Argo Rollouts.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14600"/>
            <a:ext cx="5257800" cy="329184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679192"/>
            <a:ext cx="91440" cy="384048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697480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Pourquoi Argo Rollouts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227832"/>
            <a:ext cx="47548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Répond à un problème universel : déployer sans risque ni coupure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Brique concrète, très utilisée en entreprise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Même éditeur qu'ArgoCD (déjà au cœur du GitOps)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Sujet aligné avec mon intérêt pour le DevOps / SRE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514600"/>
            <a:ext cx="5120640" cy="329184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2679192"/>
            <a:ext cx="91440" cy="384048"/>
          </a:xfrm>
          <a:prstGeom prst="rect">
            <a:avLst/>
          </a:prstGeom>
          <a:solidFill>
            <a:srgbClr val="55A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59" y="269748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Démarche de ce dossier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3227832"/>
            <a:ext cx="46177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Recherche : comprendre la techno et ses usages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Implémentation réelle sur un cluster Kubernetes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Captures et logs authentiques à l'appui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3FC46B"/>
                </a:solidFill>
                <a:latin typeface="Calibri"/>
              </a:rPr>
              <a:t>✓  </a:t>
            </a:r>
            <a:r>
              <a:rPr sz="1400" b="1">
                <a:solidFill>
                  <a:srgbClr val="3FC46B"/>
                </a:solidFill>
                <a:latin typeface="Calibri"/>
              </a:rPr>
              <a:t>Document pensé pour se comprendre seul, sans oral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46304" cy="4572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F7627"/>
                </a:solidFill>
                <a:latin typeface="Calibri"/>
              </a:rPr>
              <a:t>POURQUOI ALLER PLUS LOIN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Le problème : le Deployment classique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11183112" cy="20116"/>
          </a:xfrm>
          <a:prstGeom prst="rect">
            <a:avLst/>
          </a:prstGeom>
          <a:solidFill>
            <a:srgbClr val="32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79FB0"/>
                </a:solidFill>
                <a:latin typeface="Calibri"/>
              </a:rPr>
              <a:t>Argo Rollouts — Projet de recherche Kubernetes &amp; GitOps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55664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F7627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E8EAED"/>
                </a:solidFill>
                <a:latin typeface="Calibri"/>
              </a:rPr>
              <a:t>Un </a:t>
            </a:r>
            <a:r>
              <a:rPr sz="1800" b="1">
                <a:solidFill>
                  <a:srgbClr val="EF7627"/>
                </a:solidFill>
                <a:latin typeface="Calibri"/>
              </a:rPr>
              <a:t>Deployment</a:t>
            </a:r>
            <a:r>
              <a:rPr sz="1800" b="0">
                <a:solidFill>
                  <a:srgbClr val="E8EAED"/>
                </a:solidFill>
                <a:latin typeface="Calibri"/>
              </a:rPr>
              <a:t> fait un </a:t>
            </a:r>
            <a:r>
              <a:rPr sz="1800" b="1">
                <a:solidFill>
                  <a:srgbClr val="FFFFFF"/>
                </a:solidFill>
                <a:latin typeface="Calibri"/>
              </a:rPr>
              <a:t>rolling update</a:t>
            </a:r>
            <a:r>
              <a:rPr sz="1800" b="0">
                <a:solidFill>
                  <a:srgbClr val="E8EAED"/>
                </a:solidFill>
                <a:latin typeface="Calibri"/>
              </a:rPr>
              <a:t> : il remplace les pods un à un… sans jamais vérifier si la nouvelle version fonctionne.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423160"/>
            <a:ext cx="5257800" cy="338328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587752"/>
            <a:ext cx="91440" cy="384048"/>
          </a:xfrm>
          <a:prstGeom prst="rect">
            <a:avLst/>
          </a:prstGeom>
          <a:solidFill>
            <a:srgbClr val="F06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Les risques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136391"/>
            <a:ext cx="475488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0645A"/>
                </a:solidFill>
                <a:latin typeface="Calibri"/>
              </a:rPr>
              <a:t>✕  </a:t>
            </a:r>
            <a:r>
              <a:rPr sz="1500" b="1">
                <a:solidFill>
                  <a:srgbClr val="F0645A"/>
                </a:solidFill>
                <a:latin typeface="Calibri"/>
              </a:rPr>
              <a:t>Une v2 buggée part vers 100 % des utilisateurs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0645A"/>
                </a:solidFill>
                <a:latin typeface="Calibri"/>
              </a:rPr>
              <a:t>✕  </a:t>
            </a:r>
            <a:r>
              <a:rPr sz="1500" b="1">
                <a:solidFill>
                  <a:srgbClr val="F0645A"/>
                </a:solidFill>
                <a:latin typeface="Calibri"/>
              </a:rPr>
              <a:t>Détection tardive : alertes, support, churn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0645A"/>
                </a:solidFill>
                <a:latin typeface="Calibri"/>
              </a:rPr>
              <a:t>✕  </a:t>
            </a:r>
            <a:r>
              <a:rPr sz="1500" b="1">
                <a:solidFill>
                  <a:srgbClr val="F0645A"/>
                </a:solidFill>
                <a:latin typeface="Calibri"/>
              </a:rPr>
              <a:t>Rollback manuel, sous stress, en plein incident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0645A"/>
                </a:solidFill>
                <a:latin typeface="Calibri"/>
              </a:rPr>
              <a:t>✕  </a:t>
            </a:r>
            <a:r>
              <a:rPr sz="1500" b="1">
                <a:solidFill>
                  <a:srgbClr val="F0645A"/>
                </a:solidFill>
                <a:latin typeface="Calibri"/>
              </a:rPr>
              <a:t>Aucune mesure objective avant de généraliser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423160"/>
            <a:ext cx="5120640" cy="338328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2587752"/>
            <a:ext cx="91440" cy="384048"/>
          </a:xfrm>
          <a:prstGeom prst="rect">
            <a:avLst/>
          </a:prstGeom>
          <a:solidFill>
            <a:srgbClr val="3FC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59" y="260604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Le besoin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3136391"/>
            <a:ext cx="461772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Exposer la v2 à une fraction du trafic d'abord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Mesurer sa santé en conditions réelles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Promouvoir seulement si les métriques sont bonnes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Revenir en arrière automatiquement sinon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46304" cy="4572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F7627"/>
                </a:solidFill>
                <a:latin typeface="Calibri"/>
              </a:rPr>
              <a:t>DÉFINITION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Qu'est-ce qu'Argo Rollouts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11183112" cy="20116"/>
          </a:xfrm>
          <a:prstGeom prst="rect">
            <a:avLst/>
          </a:prstGeom>
          <a:solidFill>
            <a:srgbClr val="32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79FB0"/>
                </a:solidFill>
                <a:latin typeface="Calibri"/>
              </a:rPr>
              <a:t>Argo Rollouts — Projet de recherche Kubernetes &amp; GitOps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55664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F7627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E8EAED"/>
                </a:solidFill>
                <a:latin typeface="Calibri"/>
              </a:rPr>
              <a:t>Un </a:t>
            </a:r>
            <a:r>
              <a:rPr sz="1800" b="1">
                <a:solidFill>
                  <a:srgbClr val="FFFFFF"/>
                </a:solidFill>
                <a:latin typeface="Calibri"/>
              </a:rPr>
              <a:t>contrôleur Kubernetes</a:t>
            </a:r>
            <a:r>
              <a:rPr sz="1800" b="0">
                <a:solidFill>
                  <a:srgbClr val="E8EAED"/>
                </a:solidFill>
                <a:latin typeface="Calibri"/>
              </a:rPr>
              <a:t> (projet CNCF, famille Argo) qui remplace le Deployment par une ressource </a:t>
            </a:r>
            <a:r>
              <a:rPr sz="1800" b="1">
                <a:solidFill>
                  <a:srgbClr val="EF7627"/>
                </a:solidFill>
                <a:latin typeface="Calibri"/>
              </a:rPr>
              <a:t>Rollout</a:t>
            </a:r>
            <a:r>
              <a:rPr sz="1800" b="0">
                <a:solidFill>
                  <a:srgbClr val="E8EAED"/>
                </a:solidFill>
                <a:latin typeface="Calibri"/>
              </a:rPr>
              <a:t> offrant la progressive delivery.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468880"/>
            <a:ext cx="3429000" cy="320040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633472"/>
            <a:ext cx="91440" cy="384048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651760"/>
            <a:ext cx="2971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Canary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182112"/>
            <a:ext cx="29260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% croissant du trafic vers la v2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979FB0"/>
                </a:solidFill>
                <a:latin typeface="Calibri"/>
              </a:rPr>
              <a:t>▸  </a:t>
            </a:r>
            <a:r>
              <a:rPr sz="1500" b="0">
                <a:solidFill>
                  <a:srgbClr val="979FB0"/>
                </a:solidFill>
                <a:latin typeface="Calibri"/>
              </a:rPr>
              <a:t>20% → 40% → 60% → 100%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2468880"/>
            <a:ext cx="3429000" cy="320040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0832" y="2633472"/>
            <a:ext cx="91440" cy="384048"/>
          </a:xfrm>
          <a:prstGeom prst="rect">
            <a:avLst/>
          </a:prstGeom>
          <a:solidFill>
            <a:srgbClr val="55A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2651760"/>
            <a:ext cx="2971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Blue-Green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182112"/>
            <a:ext cx="29260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Deux environnements isolés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979FB0"/>
                </a:solidFill>
                <a:latin typeface="Calibri"/>
              </a:rPr>
              <a:t>▸  </a:t>
            </a:r>
            <a:r>
              <a:rPr sz="1500" b="0">
                <a:solidFill>
                  <a:srgbClr val="979FB0"/>
                </a:solidFill>
                <a:latin typeface="Calibri"/>
              </a:rPr>
              <a:t>Bascule instantanée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2468880"/>
            <a:ext cx="3429000" cy="320040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79" y="2633472"/>
            <a:ext cx="91440" cy="384048"/>
          </a:xfrm>
          <a:prstGeom prst="rect">
            <a:avLst/>
          </a:prstGeom>
          <a:solidFill>
            <a:srgbClr val="3FC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2651760"/>
            <a:ext cx="2971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Analyse auto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182112"/>
            <a:ext cx="29260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Décision pilotée par métriques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979FB0"/>
                </a:solidFill>
                <a:latin typeface="Calibri"/>
              </a:rPr>
              <a:t>▸  </a:t>
            </a:r>
            <a:r>
              <a:rPr sz="1500" b="0">
                <a:solidFill>
                  <a:srgbClr val="979FB0"/>
                </a:solidFill>
                <a:latin typeface="Calibri"/>
              </a:rPr>
              <a:t>Promotion ou rollback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8064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E8EAED"/>
                </a:solidFill>
                <a:latin typeface="Calibri"/>
              </a:rPr>
              <a:t>→ Objectif : une mise en production </a:t>
            </a:r>
            <a:r>
              <a:rPr sz="1600" b="1">
                <a:solidFill>
                  <a:srgbClr val="EF7627"/>
                </a:solidFill>
                <a:latin typeface="Calibri"/>
              </a:rPr>
              <a:t>graduelle, mesurée et réversible automatiquement.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46304" cy="4572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F7627"/>
                </a:solidFill>
                <a:latin typeface="Calibri"/>
              </a:rPr>
              <a:t>ARCHITECTURE INTERNE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Fonctionnement global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11183112" cy="20116"/>
          </a:xfrm>
          <a:prstGeom prst="rect">
            <a:avLst/>
          </a:prstGeom>
          <a:solidFill>
            <a:srgbClr val="32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79FB0"/>
                </a:solidFill>
                <a:latin typeface="Calibri"/>
              </a:rPr>
              <a:t>Argo Rollouts — Projet de recherche Kubernetes &amp; GitOps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55664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F7627"/>
                </a:solidFill>
                <a:latin typeface="Calibri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5486400" cy="2286000"/>
          </a:xfrm>
          <a:prstGeom prst="roundRect">
            <a:avLst>
              <a:gd name="adj" fmla="val 5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0992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979FB0"/>
                </a:solidFill>
                <a:latin typeface="Consolas"/>
              </a:rPr>
              <a:t>ressources gérées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20824"/>
            <a:ext cx="5029200" cy="20116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FFFFFF"/>
                </a:solidFill>
                <a:latin typeface="Consolas"/>
              </a:rPr>
              <a:t>Rollout  (remplace Deployment)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79FB0"/>
                </a:solidFill>
                <a:latin typeface="Consolas"/>
              </a:rPr>
              <a:t>   │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3FC46B"/>
                </a:solidFill>
                <a:latin typeface="Consolas"/>
              </a:rPr>
              <a:t>   ├─ ReplicaSet STABLE   v actuelle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EF7627"/>
                </a:solidFill>
                <a:latin typeface="Consolas"/>
              </a:rPr>
              <a:t>   ├─ ReplicaSet CANARY   v nouvelle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55A8F5"/>
                </a:solidFill>
                <a:latin typeface="Consolas"/>
              </a:rPr>
              <a:t>   └─ AnalysisRun         décide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1600200"/>
            <a:ext cx="4892040" cy="420624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92240" y="1764792"/>
            <a:ext cx="91440" cy="384048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59" y="1783080"/>
            <a:ext cx="4434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À chaque palier, le contrôleur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59" y="2313432"/>
            <a:ext cx="4389120" cy="32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Ajuste la proportion de trafic/pods canary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Marque une pause (minutée ou manuelle)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Lance une analyse de la santé du canary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3FC46B"/>
                </a:solidFill>
                <a:latin typeface="Calibri"/>
              </a:rPr>
              <a:t>✓  </a:t>
            </a:r>
            <a:r>
              <a:rPr sz="1500" b="1">
                <a:solidFill>
                  <a:srgbClr val="3FC46B"/>
                </a:solidFill>
                <a:latin typeface="Calibri"/>
              </a:rPr>
              <a:t>Promeut si OK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0645A"/>
                </a:solidFill>
                <a:latin typeface="Calibri"/>
              </a:rPr>
              <a:t>✕  </a:t>
            </a:r>
            <a:r>
              <a:rPr sz="1500" b="1">
                <a:solidFill>
                  <a:srgbClr val="F0645A"/>
                </a:solidFill>
                <a:latin typeface="Calibri"/>
              </a:rPr>
              <a:t>Rollback automatique si KO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069080"/>
            <a:ext cx="5486400" cy="1737360"/>
          </a:xfrm>
          <a:prstGeom prst="roundRect">
            <a:avLst>
              <a:gd name="adj" fmla="val 5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17880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979FB0"/>
                </a:solidFill>
                <a:latin typeface="Consolas"/>
              </a:rPr>
              <a:t>exemple de stratégie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489704"/>
            <a:ext cx="5029200" cy="146303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steps: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E8EAED"/>
                </a:solidFill>
                <a:latin typeface="Consolas"/>
              </a:rPr>
              <a:t>  - setWeight: 20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E8EAED"/>
                </a:solidFill>
                <a:latin typeface="Consolas"/>
              </a:rPr>
              <a:t>  - pause: { duration: 30s }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EF7627"/>
                </a:solidFill>
                <a:latin typeface="Consolas"/>
              </a:rPr>
              <a:t>  - analysis: { success-rate 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46304" cy="4572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F7627"/>
                </a:solidFill>
                <a:latin typeface="Calibri"/>
              </a:rPr>
              <a:t>ADOPTION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Cas d'usage en entreprise &amp; écosystème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11183112" cy="20116"/>
          </a:xfrm>
          <a:prstGeom prst="rect">
            <a:avLst/>
          </a:prstGeom>
          <a:solidFill>
            <a:srgbClr val="32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79FB0"/>
                </a:solidFill>
                <a:latin typeface="Calibri"/>
              </a:rPr>
              <a:t>Argo Rollouts — Projet de recherche Kubernetes &amp; GitOps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55664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F7627"/>
                </a:solidFill>
                <a:latin typeface="Calibri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5257800" cy="420624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91440" cy="384048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Utilisation en production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13432"/>
            <a:ext cx="4754880" cy="32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Réduire le risque : tester la v2 sur 5–10 % du trafic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Déployer plusieurs fois/jour sans maintenance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SLO-driven : promotion liée aux métriques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979FB0"/>
                </a:solidFill>
                <a:latin typeface="Calibri"/>
              </a:rPr>
              <a:t>–  </a:t>
            </a:r>
            <a:r>
              <a:rPr sz="1500" b="0">
                <a:solidFill>
                  <a:srgbClr val="E8EAED"/>
                </a:solidFill>
                <a:latin typeface="Calibri"/>
              </a:rPr>
              <a:t>latence, taux d'erreur, succès (Prometheus, Datadog…)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Couplé au GitOps (ArgoCD / Flux)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600200"/>
            <a:ext cx="5120640" cy="420624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764792"/>
            <a:ext cx="91440" cy="384048"/>
          </a:xfrm>
          <a:prstGeom prst="rect">
            <a:avLst/>
          </a:prstGeom>
          <a:solidFill>
            <a:srgbClr val="55A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178308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Écosystème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313432"/>
            <a:ext cx="4617720" cy="32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Projet CNCF (Argoproj), combo standard avec ArgoCD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Voisins : Flagger (Flux), Spinnaker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Analyse native : Prometheus, Datadog, New Relic,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979FB0"/>
                </a:solidFill>
                <a:latin typeface="Calibri"/>
              </a:rPr>
              <a:t>–  </a:t>
            </a:r>
            <a:r>
              <a:rPr sz="1500" b="0">
                <a:solidFill>
                  <a:srgbClr val="E8EAED"/>
                </a:solidFill>
                <a:latin typeface="Calibri"/>
              </a:rPr>
              <a:t>CloudWatch, Graphite, Job / Web custom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Contextes : microservices, API critiques, e-commerce, SaaS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46304" cy="4572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F7627"/>
                </a:solidFill>
                <a:latin typeface="Calibri"/>
              </a:rPr>
              <a:t>ANALYSE CRITIQUE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Avantages &amp; limites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11183112" cy="20116"/>
          </a:xfrm>
          <a:prstGeom prst="rect">
            <a:avLst/>
          </a:prstGeom>
          <a:solidFill>
            <a:srgbClr val="32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79FB0"/>
                </a:solidFill>
                <a:latin typeface="Calibri"/>
              </a:rPr>
              <a:t>Argo Rollouts — Projet de recherche Kubernetes &amp; GitOps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55664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F7627"/>
                </a:solidFill>
                <a:latin typeface="Calibri"/>
              </a:rP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5257800" cy="420624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91440" cy="384048"/>
          </a:xfrm>
          <a:prstGeom prst="rect">
            <a:avLst/>
          </a:prstGeom>
          <a:solidFill>
            <a:srgbClr val="3FC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Avantages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13432"/>
            <a:ext cx="4754880" cy="32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3FC46B"/>
                </a:solidFill>
                <a:latin typeface="Calibri"/>
              </a:rPr>
              <a:t>✓  </a:t>
            </a:r>
            <a:r>
              <a:rPr sz="1500" b="1">
                <a:solidFill>
                  <a:srgbClr val="3FC46B"/>
                </a:solidFill>
                <a:latin typeface="Calibri"/>
              </a:rPr>
              <a:t>Rollback automatique → moins d'incidents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3FC46B"/>
                </a:solidFill>
                <a:latin typeface="Calibri"/>
              </a:rPr>
              <a:t>✓  </a:t>
            </a:r>
            <a:r>
              <a:rPr sz="1500" b="1">
                <a:solidFill>
                  <a:srgbClr val="3FC46B"/>
                </a:solidFill>
                <a:latin typeface="Calibri"/>
              </a:rPr>
              <a:t>Pas de downtime, exposition contrôlée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3FC46B"/>
                </a:solidFill>
                <a:latin typeface="Calibri"/>
              </a:rPr>
              <a:t>✓  </a:t>
            </a:r>
            <a:r>
              <a:rPr sz="1500" b="1">
                <a:solidFill>
                  <a:srgbClr val="3FC46B"/>
                </a:solidFill>
                <a:latin typeface="Calibri"/>
              </a:rPr>
              <a:t>Décision objective (métriques), pas « au feeling »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3FC46B"/>
                </a:solidFill>
                <a:latin typeface="Calibri"/>
              </a:rPr>
              <a:t>✓  </a:t>
            </a:r>
            <a:r>
              <a:rPr sz="1500" b="1">
                <a:solidFill>
                  <a:srgbClr val="3FC46B"/>
                </a:solidFill>
                <a:latin typeface="Calibri"/>
              </a:rPr>
              <a:t>Intégration native : ArgoCD, Prometheus, Istio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600200"/>
            <a:ext cx="5120640" cy="420624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764792"/>
            <a:ext cx="91440" cy="384048"/>
          </a:xfrm>
          <a:prstGeom prst="rect">
            <a:avLst/>
          </a:prstGeom>
          <a:solidFill>
            <a:srgbClr val="F06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178308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Limites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313432"/>
            <a:ext cx="4617720" cy="32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0645A"/>
                </a:solidFill>
                <a:latin typeface="Calibri"/>
              </a:rPr>
              <a:t>✕  </a:t>
            </a:r>
            <a:r>
              <a:rPr sz="1500" b="1">
                <a:solidFill>
                  <a:srgbClr val="F0645A"/>
                </a:solidFill>
                <a:latin typeface="Calibri"/>
              </a:rPr>
              <a:t>Complexité accrue (CRD, analyse, parfois mesh)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0645A"/>
                </a:solidFill>
                <a:latin typeface="Calibri"/>
              </a:rPr>
              <a:t>✕  </a:t>
            </a:r>
            <a:r>
              <a:rPr sz="1500" b="1">
                <a:solidFill>
                  <a:srgbClr val="F0645A"/>
                </a:solidFill>
                <a:latin typeface="Calibri"/>
              </a:rPr>
              <a:t>Trafic fin = Istio / NGINX / SMI requis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0645A"/>
                </a:solidFill>
                <a:latin typeface="Calibri"/>
              </a:rPr>
              <a:t>✕  </a:t>
            </a:r>
            <a:r>
              <a:rPr sz="1500" b="1">
                <a:solidFill>
                  <a:srgbClr val="F0645A"/>
                </a:solidFill>
                <a:latin typeface="Calibri"/>
              </a:rPr>
              <a:t>Nécessite de bonnes métriques (sinon fausse confiance)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0645A"/>
                </a:solidFill>
                <a:latin typeface="Calibri"/>
              </a:rPr>
              <a:t>✕  </a:t>
            </a:r>
            <a:r>
              <a:rPr sz="1500" b="1">
                <a:solidFill>
                  <a:srgbClr val="F0645A"/>
                </a:solidFill>
                <a:latin typeface="Calibri"/>
              </a:rPr>
              <a:t>Courbe d'apprentissage, observabilité indispensable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46304" cy="4572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F7627"/>
                </a:solidFill>
                <a:latin typeface="Calibri"/>
              </a:rPr>
              <a:t>STACK &amp; FLUX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Architecture de la démo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11183112" cy="20116"/>
          </a:xfrm>
          <a:prstGeom prst="rect">
            <a:avLst/>
          </a:prstGeom>
          <a:solidFill>
            <a:srgbClr val="32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79FB0"/>
                </a:solidFill>
                <a:latin typeface="Calibri"/>
              </a:rPr>
              <a:t>Argo Rollouts — Projet de recherche Kubernetes &amp; GitOps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55664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F7627"/>
                </a:solidFill>
                <a:latin typeface="Calibri"/>
              </a:rP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10607040" cy="1965960"/>
          </a:xfrm>
          <a:prstGeom prst="roundRect">
            <a:avLst>
              <a:gd name="adj" fmla="val 5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09928"/>
            <a:ext cx="10149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979FB0"/>
                </a:solidFill>
                <a:latin typeface="Consolas"/>
              </a:rPr>
              <a:t>flux GitOps de bout en bout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20824"/>
            <a:ext cx="10149840" cy="169163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E8EAED"/>
                </a:solidFill>
                <a:latin typeface="Consolas"/>
              </a:rPr>
              <a:t>git push ─▶ GitHub Actions (lint + validation des manifests)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EF7627"/>
                </a:solidFill>
                <a:latin typeface="Consolas"/>
              </a:rPr>
              <a:t>        └─▶ ArgoCD (pull) ─▶ Rollout ─▶ Contrôleur Argo Rollouts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3FC46B"/>
                </a:solidFill>
                <a:latin typeface="Consolas"/>
              </a:rPr>
              <a:t>                                          ├─ ReplicaSet stable / canary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55A8F5"/>
                </a:solidFill>
                <a:latin typeface="Consolas"/>
              </a:rPr>
              <a:t>                                          └─ AnalysisRun (Job de sonde HTTP)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94760"/>
            <a:ext cx="5212080" cy="233172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959352"/>
            <a:ext cx="91440" cy="384048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977640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Environnement &amp; astuce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507992"/>
            <a:ext cx="4709160" cy="14173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Cluster kind + ArgoCD + Argo Rollouts v1.7.2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App rollouts-demo : 1 couleur = 1 version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0645A"/>
                </a:solidFill>
                <a:latin typeface="Calibri"/>
              </a:rPr>
              <a:t>✕  </a:t>
            </a:r>
            <a:r>
              <a:rPr sz="1400" b="1">
                <a:solidFill>
                  <a:srgbClr val="F0645A"/>
                </a:solidFill>
                <a:latin typeface="Calibri"/>
              </a:rPr>
              <a:t>Le tag bad-red renvoie des HTTP 500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979FB0"/>
                </a:solidFill>
                <a:latin typeface="Calibri"/>
              </a:rPr>
              <a:t>–  </a:t>
            </a:r>
            <a:r>
              <a:rPr sz="1400" b="0">
                <a:solidFill>
                  <a:srgbClr val="E8EAED"/>
                </a:solidFill>
                <a:latin typeface="Calibri"/>
              </a:rPr>
              <a:t>version « buggée » déterministe pour le rollback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0216" y="3739896"/>
            <a:ext cx="4496943" cy="2258568"/>
          </a:xfrm>
          <a:prstGeom prst="roundRect">
            <a:avLst>
              <a:gd name="adj" fmla="val 3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ui-canary-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794760"/>
            <a:ext cx="4387215" cy="21488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55080" y="596188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79FB0"/>
                </a:solidFill>
                <a:latin typeface="Calibri"/>
              </a:rPr>
              <a:t>UI réelle : trafic réparti vert (canary) / bleu (stable)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46304" cy="4572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F7627"/>
                </a:solidFill>
                <a:latin typeface="Calibri"/>
              </a:rPr>
              <a:t>DÉCISIONS D'IMPLÉMENTATION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Choix techniques clés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11183112" cy="20116"/>
          </a:xfrm>
          <a:prstGeom prst="rect">
            <a:avLst/>
          </a:prstGeom>
          <a:solidFill>
            <a:srgbClr val="32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79FB0"/>
                </a:solidFill>
                <a:latin typeface="Calibri"/>
              </a:rPr>
              <a:t>Argo Rollouts — Projet de recherche Kubernetes &amp; GitOps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55664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F7627"/>
                </a:solidFill>
                <a:latin typeface="Calibri"/>
              </a:rP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10607040" cy="420624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91440" cy="384048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10149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 décisions structurantes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13432"/>
            <a:ext cx="10104119" cy="32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F7627"/>
                </a:solidFill>
                <a:latin typeface="Calibri"/>
              </a:rPr>
              <a:t>▸  </a:t>
            </a:r>
            <a:r>
              <a:rPr sz="1600" b="0">
                <a:solidFill>
                  <a:srgbClr val="E8EAED"/>
                </a:solidFill>
                <a:latin typeface="Calibri"/>
              </a:rPr>
              <a:t>Canary sans service mesh → split par nombre de pods (simple, portable)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F7627"/>
                </a:solidFill>
                <a:latin typeface="Calibri"/>
              </a:rPr>
              <a:t>▸  </a:t>
            </a:r>
            <a:r>
              <a:rPr sz="1600" b="0">
                <a:solidFill>
                  <a:srgbClr val="E8EAED"/>
                </a:solidFill>
                <a:latin typeface="Calibri"/>
              </a:rPr>
              <a:t>Services stable + canary : le contrôleur y injecte le pod-template-hash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979FB0"/>
                </a:solidFill>
                <a:latin typeface="Calibri"/>
              </a:rPr>
              <a:t>–  </a:t>
            </a:r>
            <a:r>
              <a:rPr sz="1600" b="0">
                <a:solidFill>
                  <a:srgbClr val="E8EAED"/>
                </a:solidFill>
                <a:latin typeface="Calibri"/>
              </a:rPr>
              <a:t>la sonde cible ainsi précisément les pods canary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F7627"/>
                </a:solidFill>
                <a:latin typeface="Calibri"/>
              </a:rPr>
              <a:t>▸  </a:t>
            </a:r>
            <a:r>
              <a:rPr sz="1600" b="0">
                <a:solidFill>
                  <a:srgbClr val="E8EAED"/>
                </a:solidFill>
                <a:latin typeface="Calibri"/>
              </a:rPr>
              <a:t>Probes TCP (et non HTTP /color) : les pods bad-red restent Ready malgré les 500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979FB0"/>
                </a:solidFill>
                <a:latin typeface="Calibri"/>
              </a:rPr>
              <a:t>–  </a:t>
            </a:r>
            <a:r>
              <a:rPr sz="1600" b="0">
                <a:solidFill>
                  <a:srgbClr val="E8EAED"/>
                </a:solidFill>
                <a:latin typeface="Calibri"/>
              </a:rPr>
              <a:t>on démontre un rollback piloté par l'ANALYSE, pas par la santé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F7627"/>
                </a:solidFill>
                <a:latin typeface="Calibri"/>
              </a:rPr>
              <a:t>▸  </a:t>
            </a:r>
            <a:r>
              <a:rPr sz="1600" b="0">
                <a:solidFill>
                  <a:srgbClr val="E8EAED"/>
                </a:solidFill>
                <a:latin typeface="Calibri"/>
              </a:rPr>
              <a:t>AnalysisTemplate de type Job : sonde 30 requêtes, exige ≥ 95 % de succès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979FB0"/>
                </a:solidFill>
                <a:latin typeface="Calibri"/>
              </a:rPr>
              <a:t>–  </a:t>
            </a:r>
            <a:r>
              <a:rPr sz="1600" b="0">
                <a:solidFill>
                  <a:srgbClr val="E8EAED"/>
                </a:solidFill>
                <a:latin typeface="Calibri"/>
              </a:rPr>
              <a:t>autonome ; variante Prometheus fournie pour la production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46304" cy="4572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F7627"/>
                </a:solidFill>
                <a:latin typeface="Calibri"/>
              </a:rPr>
              <a:t>PROMOTION AUTOMATIQUE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Démo 1 — Canary sain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11183112" cy="20116"/>
          </a:xfrm>
          <a:prstGeom prst="rect">
            <a:avLst/>
          </a:prstGeom>
          <a:solidFill>
            <a:srgbClr val="32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79FB0"/>
                </a:solidFill>
                <a:latin typeface="Calibri"/>
              </a:rPr>
              <a:t>Argo Rollouts — Projet de recherche Kubernetes &amp; GitOps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55664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F7627"/>
                </a:solidFill>
                <a:latin typeface="Calibr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3246120" cy="420624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91440" cy="384048"/>
          </a:xfrm>
          <a:prstGeom prst="rect">
            <a:avLst/>
          </a:prstGeom>
          <a:solidFill>
            <a:srgbClr val="3FC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2788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Scénario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13432"/>
            <a:ext cx="2743200" cy="32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Déploiement de la version green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979FB0"/>
                </a:solidFill>
                <a:latin typeface="Calibri"/>
              </a:rPr>
              <a:t>▸  </a:t>
            </a:r>
            <a:r>
              <a:rPr sz="1400" b="0">
                <a:solidFill>
                  <a:srgbClr val="979FB0"/>
                </a:solidFill>
                <a:latin typeface="Calibri"/>
              </a:rPr>
              <a:t>Canary 20% → 40%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AnalysisRun sonde le canary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3FC46B"/>
                </a:solidFill>
                <a:latin typeface="Calibri"/>
              </a:rPr>
              <a:t>✓  </a:t>
            </a:r>
            <a:r>
              <a:rPr sz="1400" b="1">
                <a:solidFill>
                  <a:srgbClr val="3FC46B"/>
                </a:solidFill>
                <a:latin typeface="Calibri"/>
              </a:rPr>
              <a:t>30/30 = 100 % (seuil 95%)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3FC46B"/>
                </a:solidFill>
                <a:latin typeface="Calibri"/>
              </a:rPr>
              <a:t>✓  </a:t>
            </a:r>
            <a:r>
              <a:rPr sz="1400" b="1">
                <a:solidFill>
                  <a:srgbClr val="3FC46B"/>
                </a:solidFill>
                <a:latin typeface="Calibri"/>
              </a:rPr>
              <a:t>Promotion auto à 100 %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05656" y="1453895"/>
            <a:ext cx="7424927" cy="4162744"/>
          </a:xfrm>
          <a:prstGeom prst="roundRect">
            <a:avLst>
              <a:gd name="adj" fmla="val 3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ashboard-dem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508760"/>
            <a:ext cx="7315200" cy="40530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60520" y="577900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79FB0"/>
                </a:solidFill>
                <a:latin typeface="Calibri"/>
              </a:rPr>
              <a:t>Dashboard réel : étapes du canary à gauche, </a:t>
            </a:r>
            <a:r>
              <a:rPr sz="1100" b="1">
                <a:solidFill>
                  <a:srgbClr val="3FC46B"/>
                </a:solidFill>
                <a:latin typeface="Calibri"/>
              </a:rPr>
              <a:t>analyse ✓ verte</a:t>
            </a:r>
            <a:r>
              <a:rPr sz="1100" b="0">
                <a:solidFill>
                  <a:srgbClr val="979FB0"/>
                </a:solidFill>
                <a:latin typeface="Calibri"/>
              </a:rPr>
              <a:t> sur la révision canary → la promotion se poursuit.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46304" cy="4572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F7627"/>
                </a:solidFill>
                <a:latin typeface="Calibri"/>
              </a:rPr>
              <a:t>ROLLBACK AUTOMATIQUE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Démo 2 — Canary défaillant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11183112" cy="20116"/>
          </a:xfrm>
          <a:prstGeom prst="rect">
            <a:avLst/>
          </a:prstGeom>
          <a:solidFill>
            <a:srgbClr val="32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79FB0"/>
                </a:solidFill>
                <a:latin typeface="Calibri"/>
              </a:rPr>
              <a:t>Argo Rollouts — Projet de recherche Kubernetes &amp; GitOps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55664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F7627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3246120" cy="420624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91440" cy="384048"/>
          </a:xfrm>
          <a:prstGeom prst="rect">
            <a:avLst/>
          </a:prstGeom>
          <a:solidFill>
            <a:srgbClr val="F06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2788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Scénario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13432"/>
            <a:ext cx="2743200" cy="32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Déploiement de bad-red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0645A"/>
                </a:solidFill>
                <a:latin typeface="Calibri"/>
              </a:rPr>
              <a:t>✕  </a:t>
            </a:r>
            <a:r>
              <a:rPr sz="1400" b="1">
                <a:solidFill>
                  <a:srgbClr val="F0645A"/>
                </a:solidFill>
                <a:latin typeface="Calibri"/>
              </a:rPr>
              <a:t>L'app renvoie des HTTP 500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0645A"/>
                </a:solidFill>
                <a:latin typeface="Calibri"/>
              </a:rPr>
              <a:t>✕  </a:t>
            </a:r>
            <a:r>
              <a:rPr sz="1400" b="1">
                <a:solidFill>
                  <a:srgbClr val="F0645A"/>
                </a:solidFill>
                <a:latin typeface="Calibri"/>
              </a:rPr>
              <a:t>Sonde : 5/30 = 16 % (seuil 95)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0645A"/>
                </a:solidFill>
                <a:latin typeface="Calibri"/>
              </a:rPr>
              <a:t>✕  </a:t>
            </a:r>
            <a:r>
              <a:rPr sz="1400" b="1">
                <a:solidFill>
                  <a:srgbClr val="F0645A"/>
                </a:solidFill>
                <a:latin typeface="Calibri"/>
              </a:rPr>
              <a:t>Metric Failed → RolloutAborted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3FC46B"/>
                </a:solidFill>
                <a:latin typeface="Calibri"/>
              </a:rPr>
              <a:t>✓  </a:t>
            </a:r>
            <a:r>
              <a:rPr sz="1400" b="1">
                <a:solidFill>
                  <a:srgbClr val="3FC46B"/>
                </a:solidFill>
                <a:latin typeface="Calibri"/>
              </a:rPr>
              <a:t>Trafic gardé sur stable, 0 downtime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05656" y="1453895"/>
            <a:ext cx="7424927" cy="4162744"/>
          </a:xfrm>
          <a:prstGeom prst="roundRect">
            <a:avLst>
              <a:gd name="adj" fmla="val 3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ashboard-dem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508760"/>
            <a:ext cx="7315200" cy="40530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60520" y="577900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79FB0"/>
                </a:solidFill>
                <a:latin typeface="Calibri"/>
              </a:rPr>
              <a:t>Dashboard réel : statut </a:t>
            </a:r>
            <a:r>
              <a:rPr sz="1100" b="1">
                <a:solidFill>
                  <a:srgbClr val="F0645A"/>
                </a:solidFill>
                <a:latin typeface="Calibri"/>
              </a:rPr>
              <a:t>Degraded</a:t>
            </a:r>
            <a:r>
              <a:rPr sz="1100" b="0">
                <a:solidFill>
                  <a:srgbClr val="979FB0"/>
                </a:solidFill>
                <a:latin typeface="Calibri"/>
              </a:rPr>
              <a:t> et </a:t>
            </a:r>
            <a:r>
              <a:rPr sz="1100" b="1">
                <a:solidFill>
                  <a:srgbClr val="F0645A"/>
                </a:solidFill>
                <a:latin typeface="Calibri"/>
              </a:rPr>
              <a:t>analyse ✕ rouge</a:t>
            </a:r>
            <a:r>
              <a:rPr sz="1100" b="0">
                <a:solidFill>
                  <a:srgbClr val="979FB0"/>
                </a:solidFill>
                <a:latin typeface="Calibri"/>
              </a:rPr>
              <a:t> → rollback automatique vers la version stable.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46304" cy="4572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F7627"/>
                </a:solidFill>
                <a:latin typeface="Calibri"/>
              </a:rPr>
              <a:t>CONCLUSION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Bilan, avis &amp; améliorations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11183112" cy="20116"/>
          </a:xfrm>
          <a:prstGeom prst="rect">
            <a:avLst/>
          </a:prstGeom>
          <a:solidFill>
            <a:srgbClr val="32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79FB0"/>
                </a:solidFill>
                <a:latin typeface="Calibri"/>
              </a:rPr>
              <a:t>Argo Rollouts — Projet de recherche Kubernetes &amp; GitOps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55664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F7627"/>
                </a:solidFill>
                <a:latin typeface="Calibr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5257800" cy="269748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91440" cy="384048"/>
          </a:xfrm>
          <a:prstGeom prst="rect">
            <a:avLst/>
          </a:prstGeom>
          <a:solidFill>
            <a:srgbClr val="55A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Ce que j'ai appris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13432"/>
            <a:ext cx="475488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Le progressive delivery en pratique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L'imbrication GitOps ↔ Rollouts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Les métriques comme contrat de qualité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600200"/>
            <a:ext cx="5120640" cy="269748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764792"/>
            <a:ext cx="91440" cy="384048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178308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Mon avis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313432"/>
            <a:ext cx="461772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3FC46B"/>
                </a:solidFill>
                <a:latin typeface="Calibri"/>
              </a:rPr>
              <a:t>✓  </a:t>
            </a:r>
            <a:r>
              <a:rPr sz="1400" b="1">
                <a:solidFill>
                  <a:srgbClr val="3FC46B"/>
                </a:solidFill>
                <a:latin typeface="Calibri"/>
              </a:rPr>
              <a:t>Excellent compromis sécurité / vélocité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979FB0"/>
                </a:solidFill>
                <a:latin typeface="Calibri"/>
              </a:rPr>
              <a:t>▸  </a:t>
            </a:r>
            <a:r>
              <a:rPr sz="1400" b="0">
                <a:solidFill>
                  <a:srgbClr val="979FB0"/>
                </a:solidFill>
                <a:latin typeface="Calibri"/>
              </a:rPr>
              <a:t>Pour des services critiques à fort trafic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0645A"/>
                </a:solidFill>
                <a:latin typeface="Calibri"/>
              </a:rPr>
              <a:t>✕  </a:t>
            </a:r>
            <a:r>
              <a:rPr sz="1400" b="1">
                <a:solidFill>
                  <a:srgbClr val="F0645A"/>
                </a:solidFill>
                <a:latin typeface="Calibri"/>
              </a:rPr>
              <a:t>Overkill pour un petit mono-service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80560"/>
            <a:ext cx="10607040" cy="141732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645152"/>
            <a:ext cx="91440" cy="384048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663440"/>
            <a:ext cx="10149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Améliorations possibles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193792"/>
            <a:ext cx="1010411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979FB0"/>
                </a:solidFill>
                <a:latin typeface="Calibri"/>
              </a:rPr>
              <a:t>▸  </a:t>
            </a:r>
            <a:r>
              <a:rPr sz="1400" b="0">
                <a:solidFill>
                  <a:srgbClr val="979FB0"/>
                </a:solidFill>
                <a:latin typeface="Calibri"/>
              </a:rPr>
              <a:t>Trafic fin via Istio/NGINX · analyse Prometheus réelle (p95 + erreurs) · notifications Slack · Blue-Green avec tests preview · multi-cluster ApplicationSet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0515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Calibri"/>
              </a:rPr>
              <a:t>Pour aller plus loin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65960"/>
            <a:ext cx="2743200" cy="4572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9456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979FB0"/>
                </a:solidFill>
                <a:latin typeface="Calibri"/>
              </a:rPr>
              <a:t>L'intégralité du projet (manifests, GitOps, CI, captures) est sur le dépôt 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880360"/>
            <a:ext cx="10424160" cy="914400"/>
          </a:xfrm>
          <a:prstGeom prst="roundRect">
            <a:avLst>
              <a:gd name="adj" fmla="val 10000"/>
            </a:avLst>
          </a:prstGeom>
          <a:solidFill>
            <a:srgbClr val="1E2533"/>
          </a:solidFill>
          <a:ln w="19050">
            <a:solidFill>
              <a:srgbClr val="EF76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880360"/>
            <a:ext cx="98755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55A8F5"/>
                </a:solidFill>
                <a:latin typeface="Consolas"/>
              </a:rPr>
              <a:t>github.com/Louis-JB/argo-rollouts-demo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4069080"/>
            <a:ext cx="5120640" cy="201168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4233672"/>
            <a:ext cx="91440" cy="384048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25196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Le dépôt contient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782312"/>
            <a:ext cx="46177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EF7627"/>
                </a:solidFill>
                <a:latin typeface="Calibri"/>
              </a:rPr>
              <a:t>▸  </a:t>
            </a:r>
            <a:r>
              <a:rPr sz="1300" b="0">
                <a:solidFill>
                  <a:srgbClr val="E8EAED"/>
                </a:solidFill>
                <a:latin typeface="Calibri"/>
              </a:rPr>
              <a:t>Manifests Kubernetes (Rollout, Analysis, Services)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EF7627"/>
                </a:solidFill>
                <a:latin typeface="Calibri"/>
              </a:rPr>
              <a:t>▸  </a:t>
            </a:r>
            <a:r>
              <a:rPr sz="1300" b="0">
                <a:solidFill>
                  <a:srgbClr val="E8EAED"/>
                </a:solidFill>
                <a:latin typeface="Calibri"/>
              </a:rPr>
              <a:t>Application ArgoCD (GitOps) + CI GitHub Actions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EF7627"/>
                </a:solidFill>
                <a:latin typeface="Calibri"/>
              </a:rPr>
              <a:t>▸  </a:t>
            </a:r>
            <a:r>
              <a:rPr sz="1300" b="0">
                <a:solidFill>
                  <a:srgbClr val="E8EAED"/>
                </a:solidFill>
                <a:latin typeface="Calibri"/>
              </a:rPr>
              <a:t>Diagrammes, runbook, captures réelles d'exécution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4069080"/>
            <a:ext cx="5120640" cy="201168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4233672"/>
            <a:ext cx="91440" cy="384048"/>
          </a:xfrm>
          <a:prstGeom prst="rect">
            <a:avLst/>
          </a:prstGeom>
          <a:solidFill>
            <a:srgbClr val="3FC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25196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Reproduire la démo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4782312"/>
            <a:ext cx="46177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979FB0"/>
                </a:solidFill>
                <a:latin typeface="Calibri"/>
              </a:rPr>
              <a:t>▸  </a:t>
            </a:r>
            <a:r>
              <a:rPr sz="1300" b="0">
                <a:solidFill>
                  <a:srgbClr val="979FB0"/>
                </a:solidFill>
                <a:latin typeface="Calibri"/>
              </a:rPr>
              <a:t>kubectl apply -k manifests/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979FB0"/>
                </a:solidFill>
                <a:latin typeface="Calibri"/>
              </a:rPr>
              <a:t>▸  </a:t>
            </a:r>
            <a:r>
              <a:rPr sz="1300" b="0">
                <a:solidFill>
                  <a:srgbClr val="979FB0"/>
                </a:solidFill>
                <a:latin typeface="Calibri"/>
              </a:rPr>
              <a:t>kubectl argo rollouts get rollout rollouts-demo --watch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EF7627"/>
                </a:solidFill>
                <a:latin typeface="Calibri"/>
              </a:rPr>
              <a:t>▸  </a:t>
            </a:r>
            <a:r>
              <a:rPr sz="1300" b="0">
                <a:solidFill>
                  <a:srgbClr val="E8EAED"/>
                </a:solidFill>
                <a:latin typeface="Calibri"/>
              </a:rPr>
              <a:t>Tout est documenté dans le README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